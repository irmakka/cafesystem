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Norwester" charset="1" panose="00000506000000000000"/>
      <p:regular r:id="rId28"/>
    </p:embeddedFont>
    <p:embeddedFont>
      <p:font typeface="Helvetica World Bold" charset="1" panose="020B0800040000020004"/>
      <p:regular r:id="rId29"/>
    </p:embeddedFont>
    <p:embeddedFont>
      <p:font typeface="Helvetica World" charset="1" panose="020B0500040000020004"/>
      <p:regular r:id="rId30"/>
    </p:embeddedFont>
    <p:embeddedFont>
      <p:font typeface="Canva Sans Bold" charset="1" panose="020B0803030501040103"/>
      <p:regular r:id="rId31"/>
    </p:embeddedFont>
    <p:embeddedFont>
      <p:font typeface="Canva Sans" charset="1" panose="020B0503030501040103"/>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grpSp>
        <p:nvGrpSpPr>
          <p:cNvPr name="Group 2" id="2"/>
          <p:cNvGrpSpPr/>
          <p:nvPr/>
        </p:nvGrpSpPr>
        <p:grpSpPr>
          <a:xfrm rot="0">
            <a:off x="14860905" y="2970157"/>
            <a:ext cx="3427095" cy="7648503"/>
            <a:chOff x="0" y="0"/>
            <a:chExt cx="902609" cy="2014421"/>
          </a:xfrm>
        </p:grpSpPr>
        <p:sp>
          <p:nvSpPr>
            <p:cNvPr name="Freeform 3" id="3"/>
            <p:cNvSpPr/>
            <p:nvPr/>
          </p:nvSpPr>
          <p:spPr>
            <a:xfrm flipH="false" flipV="false" rot="0">
              <a:off x="0" y="0"/>
              <a:ext cx="902609" cy="2014421"/>
            </a:xfrm>
            <a:custGeom>
              <a:avLst/>
              <a:gdLst/>
              <a:ahLst/>
              <a:cxnLst/>
              <a:rect r="r" b="b" t="t" l="l"/>
              <a:pathLst>
                <a:path h="2014421" w="902609">
                  <a:moveTo>
                    <a:pt x="0" y="0"/>
                  </a:moveTo>
                  <a:lnTo>
                    <a:pt x="902609" y="0"/>
                  </a:lnTo>
                  <a:lnTo>
                    <a:pt x="902609" y="2014421"/>
                  </a:lnTo>
                  <a:lnTo>
                    <a:pt x="0" y="2014421"/>
                  </a:lnTo>
                  <a:close/>
                </a:path>
              </a:pathLst>
            </a:custGeom>
            <a:solidFill>
              <a:srgbClr val="EAE5CF"/>
            </a:solidFill>
          </p:spPr>
        </p:sp>
        <p:sp>
          <p:nvSpPr>
            <p:cNvPr name="TextBox 4" id="4"/>
            <p:cNvSpPr txBox="true"/>
            <p:nvPr/>
          </p:nvSpPr>
          <p:spPr>
            <a:xfrm>
              <a:off x="0" y="-38100"/>
              <a:ext cx="902609" cy="2052521"/>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012930" y="2970157"/>
            <a:ext cx="5246370" cy="6288143"/>
            <a:chOff x="0" y="0"/>
            <a:chExt cx="812800" cy="974198"/>
          </a:xfrm>
        </p:grpSpPr>
        <p:sp>
          <p:nvSpPr>
            <p:cNvPr name="Freeform 6" id="6"/>
            <p:cNvSpPr/>
            <p:nvPr/>
          </p:nvSpPr>
          <p:spPr>
            <a:xfrm flipH="false" flipV="false" rot="0">
              <a:off x="0" y="0"/>
              <a:ext cx="812800" cy="974198"/>
            </a:xfrm>
            <a:custGeom>
              <a:avLst/>
              <a:gdLst/>
              <a:ahLst/>
              <a:cxnLst/>
              <a:rect r="r" b="b" t="t" l="l"/>
              <a:pathLst>
                <a:path h="974198" w="812800">
                  <a:moveTo>
                    <a:pt x="0" y="0"/>
                  </a:moveTo>
                  <a:lnTo>
                    <a:pt x="812800" y="0"/>
                  </a:lnTo>
                  <a:lnTo>
                    <a:pt x="812800" y="974198"/>
                  </a:lnTo>
                  <a:lnTo>
                    <a:pt x="0" y="974198"/>
                  </a:lnTo>
                  <a:close/>
                </a:path>
              </a:pathLst>
            </a:custGeom>
            <a:blipFill>
              <a:blip r:embed="rId2"/>
              <a:stretch>
                <a:fillRect l="0" t="-5621" r="0" b="-5621"/>
              </a:stretch>
            </a:blipFill>
          </p:spPr>
        </p:sp>
      </p:grpSp>
      <p:sp>
        <p:nvSpPr>
          <p:cNvPr name="Freeform 7" id="7"/>
          <p:cNvSpPr/>
          <p:nvPr/>
        </p:nvSpPr>
        <p:spPr>
          <a:xfrm flipH="false" flipV="false" rot="0">
            <a:off x="13052399" y="1252121"/>
            <a:ext cx="336466" cy="336466"/>
          </a:xfrm>
          <a:custGeom>
            <a:avLst/>
            <a:gdLst/>
            <a:ahLst/>
            <a:cxnLst/>
            <a:rect r="r" b="b" t="t" l="l"/>
            <a:pathLst>
              <a:path h="336466" w="336466">
                <a:moveTo>
                  <a:pt x="0" y="0"/>
                </a:moveTo>
                <a:lnTo>
                  <a:pt x="336466" y="0"/>
                </a:lnTo>
                <a:lnTo>
                  <a:pt x="336466" y="336466"/>
                </a:lnTo>
                <a:lnTo>
                  <a:pt x="0" y="3364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7268502" y="6360953"/>
            <a:ext cx="4744428" cy="2897347"/>
            <a:chOff x="0" y="0"/>
            <a:chExt cx="1249561" cy="763087"/>
          </a:xfrm>
        </p:grpSpPr>
        <p:sp>
          <p:nvSpPr>
            <p:cNvPr name="Freeform 9" id="9"/>
            <p:cNvSpPr/>
            <p:nvPr/>
          </p:nvSpPr>
          <p:spPr>
            <a:xfrm flipH="false" flipV="false" rot="0">
              <a:off x="0" y="0"/>
              <a:ext cx="1249561" cy="763087"/>
            </a:xfrm>
            <a:custGeom>
              <a:avLst/>
              <a:gdLst/>
              <a:ahLst/>
              <a:cxnLst/>
              <a:rect r="r" b="b" t="t" l="l"/>
              <a:pathLst>
                <a:path h="763087" w="1249561">
                  <a:moveTo>
                    <a:pt x="0" y="0"/>
                  </a:moveTo>
                  <a:lnTo>
                    <a:pt x="1249561" y="0"/>
                  </a:lnTo>
                  <a:lnTo>
                    <a:pt x="1249561" y="763087"/>
                  </a:lnTo>
                  <a:lnTo>
                    <a:pt x="0" y="763087"/>
                  </a:lnTo>
                  <a:close/>
                </a:path>
              </a:pathLst>
            </a:custGeom>
            <a:solidFill>
              <a:srgbClr val="78553F"/>
            </a:solidFill>
          </p:spPr>
        </p:sp>
        <p:sp>
          <p:nvSpPr>
            <p:cNvPr name="TextBox 10" id="10"/>
            <p:cNvSpPr txBox="true"/>
            <p:nvPr/>
          </p:nvSpPr>
          <p:spPr>
            <a:xfrm>
              <a:off x="0" y="-38100"/>
              <a:ext cx="1249561" cy="80118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992668" y="6114229"/>
            <a:ext cx="848031" cy="848031"/>
            <a:chOff x="0" y="0"/>
            <a:chExt cx="223350" cy="223350"/>
          </a:xfrm>
        </p:grpSpPr>
        <p:sp>
          <p:nvSpPr>
            <p:cNvPr name="Freeform 12" id="12"/>
            <p:cNvSpPr/>
            <p:nvPr/>
          </p:nvSpPr>
          <p:spPr>
            <a:xfrm flipH="false" flipV="false" rot="0">
              <a:off x="0" y="0"/>
              <a:ext cx="223350" cy="223350"/>
            </a:xfrm>
            <a:custGeom>
              <a:avLst/>
              <a:gdLst/>
              <a:ahLst/>
              <a:cxnLst/>
              <a:rect r="r" b="b" t="t" l="l"/>
              <a:pathLst>
                <a:path h="223350" w="223350">
                  <a:moveTo>
                    <a:pt x="0" y="0"/>
                  </a:moveTo>
                  <a:lnTo>
                    <a:pt x="223350" y="0"/>
                  </a:lnTo>
                  <a:lnTo>
                    <a:pt x="223350" y="223350"/>
                  </a:lnTo>
                  <a:lnTo>
                    <a:pt x="0" y="223350"/>
                  </a:lnTo>
                  <a:close/>
                </a:path>
              </a:pathLst>
            </a:custGeom>
            <a:solidFill>
              <a:srgbClr val="EAE5CF"/>
            </a:solidFill>
          </p:spPr>
        </p:sp>
        <p:sp>
          <p:nvSpPr>
            <p:cNvPr name="TextBox 13" id="13"/>
            <p:cNvSpPr txBox="true"/>
            <p:nvPr/>
          </p:nvSpPr>
          <p:spPr>
            <a:xfrm>
              <a:off x="0" y="-38100"/>
              <a:ext cx="223350" cy="2614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2664514" y="7758260"/>
            <a:ext cx="848031" cy="848031"/>
            <a:chOff x="0" y="0"/>
            <a:chExt cx="223350" cy="223350"/>
          </a:xfrm>
        </p:grpSpPr>
        <p:sp>
          <p:nvSpPr>
            <p:cNvPr name="Freeform 15" id="15"/>
            <p:cNvSpPr/>
            <p:nvPr/>
          </p:nvSpPr>
          <p:spPr>
            <a:xfrm flipH="false" flipV="false" rot="0">
              <a:off x="0" y="0"/>
              <a:ext cx="223350" cy="223350"/>
            </a:xfrm>
            <a:custGeom>
              <a:avLst/>
              <a:gdLst/>
              <a:ahLst/>
              <a:cxnLst/>
              <a:rect r="r" b="b" t="t" l="l"/>
              <a:pathLst>
                <a:path h="223350" w="223350">
                  <a:moveTo>
                    <a:pt x="0" y="0"/>
                  </a:moveTo>
                  <a:lnTo>
                    <a:pt x="223350" y="0"/>
                  </a:lnTo>
                  <a:lnTo>
                    <a:pt x="223350" y="223350"/>
                  </a:lnTo>
                  <a:lnTo>
                    <a:pt x="0" y="223350"/>
                  </a:lnTo>
                  <a:close/>
                </a:path>
              </a:pathLst>
            </a:custGeom>
            <a:solidFill>
              <a:srgbClr val="EAE5CF"/>
            </a:solidFill>
          </p:spPr>
        </p:sp>
        <p:sp>
          <p:nvSpPr>
            <p:cNvPr name="TextBox 16" id="16"/>
            <p:cNvSpPr txBox="true"/>
            <p:nvPr/>
          </p:nvSpPr>
          <p:spPr>
            <a:xfrm>
              <a:off x="0" y="-38100"/>
              <a:ext cx="223350" cy="26145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3324471" y="7570186"/>
            <a:ext cx="376150" cy="376150"/>
            <a:chOff x="0" y="0"/>
            <a:chExt cx="99068" cy="99068"/>
          </a:xfrm>
        </p:grpSpPr>
        <p:sp>
          <p:nvSpPr>
            <p:cNvPr name="Freeform 18" id="18"/>
            <p:cNvSpPr/>
            <p:nvPr/>
          </p:nvSpPr>
          <p:spPr>
            <a:xfrm flipH="false" flipV="false" rot="0">
              <a:off x="0" y="0"/>
              <a:ext cx="99068" cy="99068"/>
            </a:xfrm>
            <a:custGeom>
              <a:avLst/>
              <a:gdLst/>
              <a:ahLst/>
              <a:cxnLst/>
              <a:rect r="r" b="b" t="t" l="l"/>
              <a:pathLst>
                <a:path h="99068" w="99068">
                  <a:moveTo>
                    <a:pt x="0" y="0"/>
                  </a:moveTo>
                  <a:lnTo>
                    <a:pt x="99068" y="0"/>
                  </a:lnTo>
                  <a:lnTo>
                    <a:pt x="99068" y="99068"/>
                  </a:lnTo>
                  <a:lnTo>
                    <a:pt x="0" y="99068"/>
                  </a:lnTo>
                  <a:close/>
                </a:path>
              </a:pathLst>
            </a:custGeom>
            <a:solidFill>
              <a:srgbClr val="78553F"/>
            </a:solidFill>
          </p:spPr>
        </p:sp>
        <p:sp>
          <p:nvSpPr>
            <p:cNvPr name="TextBox 19" id="19"/>
            <p:cNvSpPr txBox="true"/>
            <p:nvPr/>
          </p:nvSpPr>
          <p:spPr>
            <a:xfrm>
              <a:off x="0" y="-38100"/>
              <a:ext cx="99068" cy="137168"/>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830022" y="1652171"/>
            <a:ext cx="9467509" cy="3977643"/>
          </a:xfrm>
          <a:prstGeom prst="rect">
            <a:avLst/>
          </a:prstGeom>
        </p:spPr>
        <p:txBody>
          <a:bodyPr anchor="t" rtlCol="false" tIns="0" lIns="0" bIns="0" rIns="0">
            <a:spAutoFit/>
          </a:bodyPr>
          <a:lstStyle/>
          <a:p>
            <a:pPr algn="l">
              <a:lnSpc>
                <a:spcPts val="10080"/>
              </a:lnSpc>
            </a:pPr>
            <a:r>
              <a:rPr lang="en-US" sz="12000" spc="-480">
                <a:solidFill>
                  <a:srgbClr val="512615"/>
                </a:solidFill>
                <a:latin typeface="Norwester"/>
                <a:ea typeface="Norwester"/>
                <a:cs typeface="Norwester"/>
                <a:sym typeface="Norwester"/>
              </a:rPr>
              <a:t>CAFE ORDER SYSTEM — PRESENTATION</a:t>
            </a:r>
            <a:r>
              <a:rPr lang="en-US" sz="12000" spc="-480">
                <a:solidFill>
                  <a:srgbClr val="78553F"/>
                </a:solidFill>
                <a:latin typeface="Norwester"/>
                <a:ea typeface="Norwester"/>
                <a:cs typeface="Norwester"/>
                <a:sym typeface="Norwester"/>
              </a:rPr>
              <a:t> </a:t>
            </a:r>
          </a:p>
        </p:txBody>
      </p:sp>
      <p:sp>
        <p:nvSpPr>
          <p:cNvPr name="TextBox 21" id="21"/>
          <p:cNvSpPr txBox="true"/>
          <p:nvPr/>
        </p:nvSpPr>
        <p:spPr>
          <a:xfrm rot="0">
            <a:off x="12828978" y="1347371"/>
            <a:ext cx="4063854" cy="1130813"/>
          </a:xfrm>
          <a:prstGeom prst="rect">
            <a:avLst/>
          </a:prstGeom>
        </p:spPr>
        <p:txBody>
          <a:bodyPr anchor="t" rtlCol="false" tIns="0" lIns="0" bIns="0" rIns="0">
            <a:spAutoFit/>
          </a:bodyPr>
          <a:lstStyle/>
          <a:p>
            <a:pPr algn="r">
              <a:lnSpc>
                <a:spcPts val="2910"/>
              </a:lnSpc>
            </a:pPr>
            <a:r>
              <a:rPr lang="en-US" sz="3345" spc="-133">
                <a:solidFill>
                  <a:srgbClr val="78553F"/>
                </a:solidFill>
                <a:latin typeface="Norwester"/>
                <a:ea typeface="Norwester"/>
                <a:cs typeface="Norwester"/>
                <a:sym typeface="Norwester"/>
              </a:rPr>
              <a:t>DATABASE SYSTEMS</a:t>
            </a:r>
          </a:p>
          <a:p>
            <a:pPr algn="r">
              <a:lnSpc>
                <a:spcPts val="2910"/>
              </a:lnSpc>
            </a:pPr>
            <a:r>
              <a:rPr lang="en-US" sz="3345" spc="-133">
                <a:solidFill>
                  <a:srgbClr val="78553F"/>
                </a:solidFill>
                <a:latin typeface="Norwester"/>
                <a:ea typeface="Norwester"/>
                <a:cs typeface="Norwester"/>
                <a:sym typeface="Norwester"/>
              </a:rPr>
              <a:t>DR. ROA'A ALI ABDULLAH MOHAMMEDQASEM</a:t>
            </a:r>
          </a:p>
        </p:txBody>
      </p:sp>
      <p:sp>
        <p:nvSpPr>
          <p:cNvPr name="TextBox 22" id="22"/>
          <p:cNvSpPr txBox="true"/>
          <p:nvPr/>
        </p:nvSpPr>
        <p:spPr>
          <a:xfrm rot="0">
            <a:off x="7580051" y="7042044"/>
            <a:ext cx="4568165" cy="1140232"/>
          </a:xfrm>
          <a:prstGeom prst="rect">
            <a:avLst/>
          </a:prstGeom>
        </p:spPr>
        <p:txBody>
          <a:bodyPr anchor="t" rtlCol="false" tIns="0" lIns="0" bIns="0" rIns="0">
            <a:spAutoFit/>
          </a:bodyPr>
          <a:lstStyle/>
          <a:p>
            <a:pPr algn="l">
              <a:lnSpc>
                <a:spcPts val="2780"/>
              </a:lnSpc>
            </a:pPr>
            <a:r>
              <a:rPr lang="en-US" sz="2316" spc="-69" b="true">
                <a:solidFill>
                  <a:srgbClr val="FFFCEE"/>
                </a:solidFill>
                <a:latin typeface="Helvetica World Bold"/>
                <a:ea typeface="Helvetica World Bold"/>
                <a:cs typeface="Helvetica World Bold"/>
                <a:sym typeface="Helvetica World Bold"/>
              </a:rPr>
              <a:t>Irmak Kahya  B2205.010080</a:t>
            </a:r>
          </a:p>
          <a:p>
            <a:pPr algn="l">
              <a:lnSpc>
                <a:spcPts val="2780"/>
              </a:lnSpc>
            </a:pPr>
            <a:r>
              <a:rPr lang="en-US" sz="2316" spc="-69" b="true">
                <a:solidFill>
                  <a:srgbClr val="FFFCEE"/>
                </a:solidFill>
                <a:latin typeface="Helvetica World Bold"/>
                <a:ea typeface="Helvetica World Bold"/>
                <a:cs typeface="Helvetica World Bold"/>
                <a:sym typeface="Helvetica World Bold"/>
              </a:rPr>
              <a:t>Zeynep Eminoğlu B2305.010075</a:t>
            </a:r>
          </a:p>
          <a:p>
            <a:pPr algn="l">
              <a:lnSpc>
                <a:spcPts val="2780"/>
              </a:lnSpc>
            </a:pPr>
            <a:r>
              <a:rPr lang="en-US" sz="2316" spc="-69" b="true">
                <a:solidFill>
                  <a:srgbClr val="FFFCEE"/>
                </a:solidFill>
                <a:latin typeface="Helvetica World Bold"/>
                <a:ea typeface="Helvetica World Bold"/>
                <a:cs typeface="Helvetica World Bold"/>
                <a:sym typeface="Helvetica World Bold"/>
              </a:rPr>
              <a:t>Emirhan Akbal B2205.010149</a:t>
            </a:r>
            <a:r>
              <a:rPr lang="en-US" sz="2316" spc="-69" b="true">
                <a:solidFill>
                  <a:srgbClr val="FFFCEE"/>
                </a:solidFill>
                <a:latin typeface="Helvetica World Bold"/>
                <a:ea typeface="Helvetica World Bold"/>
                <a:cs typeface="Helvetica World Bold"/>
                <a:sym typeface="Helvetica World Bold"/>
              </a:rPr>
              <a: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grpSp>
        <p:nvGrpSpPr>
          <p:cNvPr name="Group 2" id="2"/>
          <p:cNvGrpSpPr/>
          <p:nvPr/>
        </p:nvGrpSpPr>
        <p:grpSpPr>
          <a:xfrm rot="0">
            <a:off x="-57125" y="0"/>
            <a:ext cx="6825703" cy="10285890"/>
            <a:chOff x="0" y="0"/>
            <a:chExt cx="1797716" cy="2709041"/>
          </a:xfrm>
        </p:grpSpPr>
        <p:sp>
          <p:nvSpPr>
            <p:cNvPr name="Freeform 3" id="3"/>
            <p:cNvSpPr/>
            <p:nvPr/>
          </p:nvSpPr>
          <p:spPr>
            <a:xfrm flipH="false" flipV="false" rot="0">
              <a:off x="0" y="0"/>
              <a:ext cx="1797716" cy="2709041"/>
            </a:xfrm>
            <a:custGeom>
              <a:avLst/>
              <a:gdLst/>
              <a:ahLst/>
              <a:cxnLst/>
              <a:rect r="r" b="b" t="t" l="l"/>
              <a:pathLst>
                <a:path h="2709041" w="1797716">
                  <a:moveTo>
                    <a:pt x="0" y="0"/>
                  </a:moveTo>
                  <a:lnTo>
                    <a:pt x="1797716" y="0"/>
                  </a:lnTo>
                  <a:lnTo>
                    <a:pt x="1797716" y="2709041"/>
                  </a:lnTo>
                  <a:lnTo>
                    <a:pt x="0" y="2709041"/>
                  </a:lnTo>
                  <a:close/>
                </a:path>
              </a:pathLst>
            </a:custGeom>
            <a:solidFill>
              <a:srgbClr val="EAE5CF"/>
            </a:solidFill>
          </p:spPr>
        </p:sp>
        <p:sp>
          <p:nvSpPr>
            <p:cNvPr name="TextBox 4" id="4"/>
            <p:cNvSpPr txBox="true"/>
            <p:nvPr/>
          </p:nvSpPr>
          <p:spPr>
            <a:xfrm>
              <a:off x="0" y="-38100"/>
              <a:ext cx="1797716" cy="2747141"/>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87658" y="2170130"/>
            <a:ext cx="4536137" cy="6284914"/>
            <a:chOff x="0" y="0"/>
            <a:chExt cx="816775" cy="1131659"/>
          </a:xfrm>
        </p:grpSpPr>
        <p:sp>
          <p:nvSpPr>
            <p:cNvPr name="Freeform 6" id="6"/>
            <p:cNvSpPr/>
            <p:nvPr/>
          </p:nvSpPr>
          <p:spPr>
            <a:xfrm flipH="false" flipV="false" rot="0">
              <a:off x="0" y="0"/>
              <a:ext cx="816775" cy="1131659"/>
            </a:xfrm>
            <a:custGeom>
              <a:avLst/>
              <a:gdLst/>
              <a:ahLst/>
              <a:cxnLst/>
              <a:rect r="r" b="b" t="t" l="l"/>
              <a:pathLst>
                <a:path h="1131659" w="816775">
                  <a:moveTo>
                    <a:pt x="0" y="0"/>
                  </a:moveTo>
                  <a:lnTo>
                    <a:pt x="816775" y="0"/>
                  </a:lnTo>
                  <a:lnTo>
                    <a:pt x="816775" y="1131659"/>
                  </a:lnTo>
                  <a:lnTo>
                    <a:pt x="0" y="1131659"/>
                  </a:lnTo>
                  <a:close/>
                </a:path>
              </a:pathLst>
            </a:custGeom>
            <a:blipFill>
              <a:blip r:embed="rId2"/>
              <a:stretch>
                <a:fillRect l="-1957" t="0" r="-1957" b="0"/>
              </a:stretch>
            </a:blipFill>
          </p:spPr>
        </p:sp>
      </p:grpSp>
      <p:grpSp>
        <p:nvGrpSpPr>
          <p:cNvPr name="Group 7" id="7"/>
          <p:cNvGrpSpPr/>
          <p:nvPr/>
        </p:nvGrpSpPr>
        <p:grpSpPr>
          <a:xfrm rot="0">
            <a:off x="7835816" y="1058655"/>
            <a:ext cx="662216" cy="635783"/>
            <a:chOff x="0" y="0"/>
            <a:chExt cx="174411" cy="167449"/>
          </a:xfrm>
        </p:grpSpPr>
        <p:sp>
          <p:nvSpPr>
            <p:cNvPr name="Freeform 8" id="8"/>
            <p:cNvSpPr/>
            <p:nvPr/>
          </p:nvSpPr>
          <p:spPr>
            <a:xfrm flipH="false" flipV="false" rot="0">
              <a:off x="0" y="0"/>
              <a:ext cx="174411" cy="167449"/>
            </a:xfrm>
            <a:custGeom>
              <a:avLst/>
              <a:gdLst/>
              <a:ahLst/>
              <a:cxnLst/>
              <a:rect r="r" b="b" t="t" l="l"/>
              <a:pathLst>
                <a:path h="167449" w="174411">
                  <a:moveTo>
                    <a:pt x="0" y="0"/>
                  </a:moveTo>
                  <a:lnTo>
                    <a:pt x="174411" y="0"/>
                  </a:lnTo>
                  <a:lnTo>
                    <a:pt x="174411" y="167449"/>
                  </a:lnTo>
                  <a:lnTo>
                    <a:pt x="0" y="167449"/>
                  </a:lnTo>
                  <a:close/>
                </a:path>
              </a:pathLst>
            </a:custGeom>
            <a:solidFill>
              <a:srgbClr val="78553F"/>
            </a:solidFill>
          </p:spPr>
        </p:sp>
        <p:sp>
          <p:nvSpPr>
            <p:cNvPr name="TextBox 9" id="9"/>
            <p:cNvSpPr txBox="true"/>
            <p:nvPr/>
          </p:nvSpPr>
          <p:spPr>
            <a:xfrm>
              <a:off x="0" y="-38100"/>
              <a:ext cx="174411" cy="205549"/>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8812892" y="1058655"/>
            <a:ext cx="662216" cy="665738"/>
            <a:chOff x="0" y="0"/>
            <a:chExt cx="174411" cy="175338"/>
          </a:xfrm>
        </p:grpSpPr>
        <p:sp>
          <p:nvSpPr>
            <p:cNvPr name="Freeform 11" id="11"/>
            <p:cNvSpPr/>
            <p:nvPr/>
          </p:nvSpPr>
          <p:spPr>
            <a:xfrm flipH="false" flipV="false" rot="0">
              <a:off x="0" y="0"/>
              <a:ext cx="174411" cy="175338"/>
            </a:xfrm>
            <a:custGeom>
              <a:avLst/>
              <a:gdLst/>
              <a:ahLst/>
              <a:cxnLst/>
              <a:rect r="r" b="b" t="t" l="l"/>
              <a:pathLst>
                <a:path h="175338" w="174411">
                  <a:moveTo>
                    <a:pt x="0" y="0"/>
                  </a:moveTo>
                  <a:lnTo>
                    <a:pt x="174411" y="0"/>
                  </a:lnTo>
                  <a:lnTo>
                    <a:pt x="174411" y="175338"/>
                  </a:lnTo>
                  <a:lnTo>
                    <a:pt x="0" y="175338"/>
                  </a:lnTo>
                  <a:close/>
                </a:path>
              </a:pathLst>
            </a:custGeom>
            <a:solidFill>
              <a:srgbClr val="EAE5CF"/>
            </a:solidFill>
          </p:spPr>
        </p:sp>
        <p:sp>
          <p:nvSpPr>
            <p:cNvPr name="TextBox 12" id="12"/>
            <p:cNvSpPr txBox="true"/>
            <p:nvPr/>
          </p:nvSpPr>
          <p:spPr>
            <a:xfrm>
              <a:off x="0" y="-38100"/>
              <a:ext cx="174411" cy="21343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937751" y="8936751"/>
            <a:ext cx="321549" cy="321549"/>
          </a:xfrm>
          <a:custGeom>
            <a:avLst/>
            <a:gdLst/>
            <a:ahLst/>
            <a:cxnLst/>
            <a:rect r="r" b="b" t="t" l="l"/>
            <a:pathLst>
              <a:path h="321549" w="321549">
                <a:moveTo>
                  <a:pt x="0" y="0"/>
                </a:moveTo>
                <a:lnTo>
                  <a:pt x="321549" y="0"/>
                </a:lnTo>
                <a:lnTo>
                  <a:pt x="321549" y="321549"/>
                </a:lnTo>
                <a:lnTo>
                  <a:pt x="0" y="321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7111580" y="2372005"/>
            <a:ext cx="10871955" cy="1319901"/>
          </a:xfrm>
          <a:prstGeom prst="rect">
            <a:avLst/>
          </a:prstGeom>
        </p:spPr>
        <p:txBody>
          <a:bodyPr anchor="t" rtlCol="false" tIns="0" lIns="0" bIns="0" rIns="0">
            <a:spAutoFit/>
          </a:bodyPr>
          <a:lstStyle/>
          <a:p>
            <a:pPr algn="l">
              <a:lnSpc>
                <a:spcPts val="9375"/>
              </a:lnSpc>
            </a:pPr>
            <a:r>
              <a:rPr lang="en-US" sz="11160" spc="-446">
                <a:solidFill>
                  <a:srgbClr val="512615"/>
                </a:solidFill>
                <a:latin typeface="Norwester"/>
                <a:ea typeface="Norwester"/>
                <a:cs typeface="Norwester"/>
                <a:sym typeface="Norwester"/>
              </a:rPr>
              <a:t>CAFE ORDER SYSTEM</a:t>
            </a:r>
          </a:p>
        </p:txBody>
      </p:sp>
      <p:sp>
        <p:nvSpPr>
          <p:cNvPr name="TextBox 15" id="15"/>
          <p:cNvSpPr txBox="true"/>
          <p:nvPr/>
        </p:nvSpPr>
        <p:spPr>
          <a:xfrm rot="0">
            <a:off x="7835816" y="3957564"/>
            <a:ext cx="9423484" cy="676275"/>
          </a:xfrm>
          <a:prstGeom prst="rect">
            <a:avLst/>
          </a:prstGeom>
        </p:spPr>
        <p:txBody>
          <a:bodyPr anchor="t" rtlCol="false" tIns="0" lIns="0" bIns="0" rIns="0">
            <a:spAutoFit/>
          </a:bodyPr>
          <a:lstStyle/>
          <a:p>
            <a:pPr algn="l">
              <a:lnSpc>
                <a:spcPts val="3359"/>
              </a:lnSpc>
            </a:pPr>
            <a:r>
              <a:rPr lang="en-US" sz="2799" spc="-83">
                <a:solidFill>
                  <a:srgbClr val="78553F"/>
                </a:solidFill>
                <a:latin typeface="Helvetica World"/>
                <a:ea typeface="Helvetica World"/>
                <a:cs typeface="Helvetica World"/>
                <a:sym typeface="Helvetica World"/>
              </a:rPr>
              <a:t>Orders and Managements with Java Swing and MySQL</a:t>
            </a:r>
          </a:p>
          <a:p>
            <a:pPr algn="l">
              <a:lnSpc>
                <a:spcPts val="2039"/>
              </a:lnSpc>
            </a:pPr>
          </a:p>
        </p:txBody>
      </p:sp>
      <p:sp>
        <p:nvSpPr>
          <p:cNvPr name="TextBox 16" id="16"/>
          <p:cNvSpPr txBox="true"/>
          <p:nvPr/>
        </p:nvSpPr>
        <p:spPr>
          <a:xfrm rot="0">
            <a:off x="7111580" y="4994666"/>
            <a:ext cx="10871955" cy="4339937"/>
          </a:xfrm>
          <a:prstGeom prst="rect">
            <a:avLst/>
          </a:prstGeom>
        </p:spPr>
        <p:txBody>
          <a:bodyPr anchor="t" rtlCol="false" tIns="0" lIns="0" bIns="0" rIns="0">
            <a:spAutoFit/>
          </a:bodyPr>
          <a:lstStyle/>
          <a:p>
            <a:pPr algn="l">
              <a:lnSpc>
                <a:spcPts val="2953"/>
              </a:lnSpc>
            </a:pPr>
            <a:r>
              <a:rPr lang="en-US" sz="2461" spc="-73" b="true">
                <a:solidFill>
                  <a:srgbClr val="78553F"/>
                </a:solidFill>
                <a:latin typeface="Helvetica World Bold"/>
                <a:ea typeface="Helvetica World Bold"/>
                <a:cs typeface="Helvetica World Bold"/>
                <a:sym typeface="Helvetica World Bold"/>
              </a:rPr>
              <a:t> About Project : </a:t>
            </a:r>
          </a:p>
          <a:p>
            <a:pPr algn="l">
              <a:lnSpc>
                <a:spcPts val="2953"/>
              </a:lnSpc>
            </a:pPr>
          </a:p>
          <a:p>
            <a:pPr algn="l">
              <a:lnSpc>
                <a:spcPts val="2953"/>
              </a:lnSpc>
            </a:pPr>
            <a:r>
              <a:rPr lang="en-US" sz="2461" spc="-73">
                <a:solidFill>
                  <a:srgbClr val="78553F"/>
                </a:solidFill>
                <a:latin typeface="Helvetica World"/>
                <a:ea typeface="Helvetica World"/>
                <a:cs typeface="Helvetica World"/>
                <a:sym typeface="Helvetica World"/>
              </a:rPr>
              <a:t>- allows customers to browse the menu</a:t>
            </a:r>
          </a:p>
          <a:p>
            <a:pPr algn="l">
              <a:lnSpc>
                <a:spcPts val="2953"/>
              </a:lnSpc>
            </a:pPr>
            <a:r>
              <a:rPr lang="en-US" sz="2461" spc="-73">
                <a:solidFill>
                  <a:srgbClr val="78553F"/>
                </a:solidFill>
                <a:latin typeface="Helvetica World"/>
                <a:ea typeface="Helvetica World"/>
                <a:cs typeface="Helvetica World"/>
                <a:sym typeface="Helvetica World"/>
              </a:rPr>
              <a:t>- place their orders</a:t>
            </a:r>
          </a:p>
          <a:p>
            <a:pPr algn="l">
              <a:lnSpc>
                <a:spcPts val="2953"/>
              </a:lnSpc>
            </a:pPr>
            <a:r>
              <a:rPr lang="en-US" sz="2461" spc="-73">
                <a:solidFill>
                  <a:srgbClr val="78553F"/>
                </a:solidFill>
                <a:latin typeface="Helvetica World"/>
                <a:ea typeface="Helvetica World"/>
                <a:cs typeface="Helvetica World"/>
                <a:sym typeface="Helvetica World"/>
              </a:rPr>
              <a:t>- display total cost  </a:t>
            </a:r>
          </a:p>
          <a:p>
            <a:pPr algn="l">
              <a:lnSpc>
                <a:spcPts val="2953"/>
              </a:lnSpc>
            </a:pPr>
            <a:r>
              <a:rPr lang="en-US" sz="2461" spc="-73">
                <a:solidFill>
                  <a:srgbClr val="78553F"/>
                </a:solidFill>
                <a:latin typeface="Helvetica World"/>
                <a:ea typeface="Helvetica World"/>
                <a:cs typeface="Helvetica World"/>
                <a:sym typeface="Helvetica World"/>
              </a:rPr>
              <a:t>-gets the address </a:t>
            </a:r>
          </a:p>
          <a:p>
            <a:pPr algn="l">
              <a:lnSpc>
                <a:spcPts val="2953"/>
              </a:lnSpc>
            </a:pPr>
            <a:r>
              <a:rPr lang="en-US" sz="2461" spc="-73">
                <a:solidFill>
                  <a:srgbClr val="78553F"/>
                </a:solidFill>
                <a:latin typeface="Helvetica World"/>
                <a:ea typeface="Helvetica World"/>
                <a:cs typeface="Helvetica World"/>
                <a:sym typeface="Helvetica World"/>
              </a:rPr>
              <a:t>-Download a reciept as pdf</a:t>
            </a:r>
          </a:p>
          <a:p>
            <a:pPr algn="l">
              <a:lnSpc>
                <a:spcPts val="2953"/>
              </a:lnSpc>
            </a:pPr>
            <a:r>
              <a:rPr lang="en-US" sz="2461" spc="-73">
                <a:solidFill>
                  <a:srgbClr val="78553F"/>
                </a:solidFill>
                <a:latin typeface="Helvetica World"/>
                <a:ea typeface="Helvetica World"/>
                <a:cs typeface="Helvetica World"/>
                <a:sym typeface="Helvetica World"/>
              </a:rPr>
              <a:t>- allowing managements to managers  such  as supply management , staff management, manager management, sales management. Helps to add worker, manager , supplier , showing  how much , which product sailed at a certain date.</a:t>
            </a:r>
          </a:p>
          <a:p>
            <a:pPr algn="l">
              <a:lnSpc>
                <a:spcPts val="2353"/>
              </a:lnSpc>
            </a:pPr>
          </a:p>
          <a:p>
            <a:pPr algn="l">
              <a:lnSpc>
                <a:spcPts val="235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grpSp>
        <p:nvGrpSpPr>
          <p:cNvPr name="Group 2" id="2"/>
          <p:cNvGrpSpPr/>
          <p:nvPr/>
        </p:nvGrpSpPr>
        <p:grpSpPr>
          <a:xfrm rot="0">
            <a:off x="16625756" y="97068"/>
            <a:ext cx="1132437" cy="113243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8553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81940" y="684884"/>
            <a:ext cx="687632" cy="6876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1F01"/>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92857" y="323276"/>
            <a:ext cx="9990475" cy="9640448"/>
          </a:xfrm>
          <a:custGeom>
            <a:avLst/>
            <a:gdLst/>
            <a:ahLst/>
            <a:cxnLst/>
            <a:rect r="r" b="b" t="t" l="l"/>
            <a:pathLst>
              <a:path h="9640448" w="9990475">
                <a:moveTo>
                  <a:pt x="0" y="0"/>
                </a:moveTo>
                <a:lnTo>
                  <a:pt x="9990475" y="0"/>
                </a:lnTo>
                <a:lnTo>
                  <a:pt x="9990475" y="9640448"/>
                </a:lnTo>
                <a:lnTo>
                  <a:pt x="0" y="9640448"/>
                </a:lnTo>
                <a:lnTo>
                  <a:pt x="0" y="0"/>
                </a:lnTo>
                <a:close/>
              </a:path>
            </a:pathLst>
          </a:custGeom>
          <a:blipFill>
            <a:blip r:embed="rId2"/>
            <a:stretch>
              <a:fillRect l="0" t="0" r="-255" b="0"/>
            </a:stretch>
          </a:blipFill>
        </p:spPr>
      </p:sp>
      <p:sp>
        <p:nvSpPr>
          <p:cNvPr name="TextBox 9" id="9"/>
          <p:cNvSpPr txBox="true"/>
          <p:nvPr/>
        </p:nvSpPr>
        <p:spPr>
          <a:xfrm rot="0">
            <a:off x="11712409" y="904875"/>
            <a:ext cx="5546891" cy="2085978"/>
          </a:xfrm>
          <a:prstGeom prst="rect">
            <a:avLst/>
          </a:prstGeom>
        </p:spPr>
        <p:txBody>
          <a:bodyPr anchor="t" rtlCol="false" tIns="0" lIns="0" bIns="0" rIns="0">
            <a:spAutoFit/>
          </a:bodyPr>
          <a:lstStyle/>
          <a:p>
            <a:pPr algn="ctr">
              <a:lnSpc>
                <a:spcPts val="8399"/>
              </a:lnSpc>
              <a:spcBef>
                <a:spcPct val="0"/>
              </a:spcBef>
            </a:pPr>
            <a:r>
              <a:rPr lang="en-US" sz="5999">
                <a:solidFill>
                  <a:srgbClr val="512615"/>
                </a:solidFill>
                <a:latin typeface="Norwester"/>
                <a:ea typeface="Norwester"/>
                <a:cs typeface="Norwester"/>
                <a:sym typeface="Norwester"/>
              </a:rPr>
              <a:t>DATABASE SCHEMA</a:t>
            </a:r>
          </a:p>
        </p:txBody>
      </p:sp>
      <p:sp>
        <p:nvSpPr>
          <p:cNvPr name="TextBox 10" id="10"/>
          <p:cNvSpPr txBox="true"/>
          <p:nvPr/>
        </p:nvSpPr>
        <p:spPr>
          <a:xfrm rot="0">
            <a:off x="11053370" y="4672860"/>
            <a:ext cx="6856665" cy="4311309"/>
          </a:xfrm>
          <a:prstGeom prst="rect">
            <a:avLst/>
          </a:prstGeom>
        </p:spPr>
        <p:txBody>
          <a:bodyPr anchor="t" rtlCol="false" tIns="0" lIns="0" bIns="0" rIns="0">
            <a:spAutoFit/>
          </a:bodyPr>
          <a:lstStyle/>
          <a:p>
            <a:pPr algn="ctr">
              <a:lnSpc>
                <a:spcPts val="2876"/>
              </a:lnSpc>
            </a:pPr>
            <a:r>
              <a:rPr lang="en-US" sz="2054" b="true">
                <a:solidFill>
                  <a:srgbClr val="512615"/>
                </a:solidFill>
                <a:latin typeface="Canva Sans Bold"/>
                <a:ea typeface="Canva Sans Bold"/>
                <a:cs typeface="Canva Sans Bold"/>
                <a:sym typeface="Canva Sans Bold"/>
              </a:rPr>
              <a:t>Categories and the Products Tables</a:t>
            </a:r>
            <a:r>
              <a:rPr lang="en-US" sz="2054">
                <a:solidFill>
                  <a:srgbClr val="512615"/>
                </a:solidFill>
                <a:latin typeface="Canva Sans"/>
                <a:ea typeface="Canva Sans"/>
                <a:cs typeface="Canva Sans"/>
                <a:sym typeface="Canva Sans"/>
              </a:rPr>
              <a:t>: </a:t>
            </a:r>
          </a:p>
          <a:p>
            <a:pPr algn="ctr">
              <a:lnSpc>
                <a:spcPts val="2876"/>
              </a:lnSpc>
              <a:spcBef>
                <a:spcPct val="0"/>
              </a:spcBef>
            </a:pPr>
            <a:r>
              <a:rPr lang="en-US" sz="2054">
                <a:solidFill>
                  <a:srgbClr val="512615"/>
                </a:solidFill>
                <a:latin typeface="Canva Sans"/>
                <a:ea typeface="Canva Sans"/>
                <a:cs typeface="Canva Sans"/>
                <a:sym typeface="Canva Sans"/>
              </a:rPr>
              <a:t>Each product belongs to a category.</a:t>
            </a:r>
          </a:p>
          <a:p>
            <a:pPr algn="ctr">
              <a:lnSpc>
                <a:spcPts val="2876"/>
              </a:lnSpc>
              <a:spcBef>
                <a:spcPct val="0"/>
              </a:spcBef>
            </a:pPr>
          </a:p>
          <a:p>
            <a:pPr algn="ctr">
              <a:lnSpc>
                <a:spcPts val="2876"/>
              </a:lnSpc>
              <a:spcBef>
                <a:spcPct val="0"/>
              </a:spcBef>
            </a:pPr>
            <a:r>
              <a:rPr lang="en-US" b="true" sz="2054">
                <a:solidFill>
                  <a:srgbClr val="512615"/>
                </a:solidFill>
                <a:latin typeface="Canva Sans Bold"/>
                <a:ea typeface="Canva Sans Bold"/>
                <a:cs typeface="Canva Sans Bold"/>
                <a:sym typeface="Canva Sans Bold"/>
              </a:rPr>
              <a:t>Customers, Orders, and Order Items Tables:</a:t>
            </a:r>
          </a:p>
          <a:p>
            <a:pPr algn="ctr">
              <a:lnSpc>
                <a:spcPts val="2876"/>
              </a:lnSpc>
              <a:spcBef>
                <a:spcPct val="0"/>
              </a:spcBef>
            </a:pPr>
            <a:r>
              <a:rPr lang="en-US" sz="2054">
                <a:solidFill>
                  <a:srgbClr val="512615"/>
                </a:solidFill>
                <a:latin typeface="Canva Sans"/>
                <a:ea typeface="Canva Sans"/>
                <a:cs typeface="Canva Sans"/>
                <a:sym typeface="Canva Sans"/>
              </a:rPr>
              <a:t>Each order must be placed by a customer, so every order has a customer_id.</a:t>
            </a:r>
          </a:p>
          <a:p>
            <a:pPr algn="ctr">
              <a:lnSpc>
                <a:spcPts val="2876"/>
              </a:lnSpc>
              <a:spcBef>
                <a:spcPct val="0"/>
              </a:spcBef>
            </a:pPr>
            <a:r>
              <a:rPr lang="en-US" sz="2054">
                <a:solidFill>
                  <a:srgbClr val="512615"/>
                </a:solidFill>
                <a:latin typeface="Canva Sans"/>
                <a:ea typeface="Canva Sans"/>
                <a:cs typeface="Canva Sans"/>
                <a:sym typeface="Canva Sans"/>
              </a:rPr>
              <a:t>in the order items table an order can have multiple products, each product has both an order_id and a product_id.</a:t>
            </a:r>
          </a:p>
          <a:p>
            <a:pPr algn="ctr">
              <a:lnSpc>
                <a:spcPts val="2876"/>
              </a:lnSpc>
              <a:spcBef>
                <a:spcPct val="0"/>
              </a:spcBef>
            </a:pPr>
          </a:p>
          <a:p>
            <a:pPr algn="ctr">
              <a:lnSpc>
                <a:spcPts val="2876"/>
              </a:lnSpc>
              <a:spcBef>
                <a:spcPct val="0"/>
              </a:spcBef>
            </a:pPr>
          </a:p>
          <a:p>
            <a:pPr algn="ctr">
              <a:lnSpc>
                <a:spcPts val="287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grpSp>
        <p:nvGrpSpPr>
          <p:cNvPr name="Group 2" id="2"/>
          <p:cNvGrpSpPr/>
          <p:nvPr/>
        </p:nvGrpSpPr>
        <p:grpSpPr>
          <a:xfrm rot="0">
            <a:off x="0" y="-32181"/>
            <a:ext cx="18721024" cy="10319181"/>
            <a:chOff x="0" y="0"/>
            <a:chExt cx="11022866" cy="6075893"/>
          </a:xfrm>
        </p:grpSpPr>
        <p:sp>
          <p:nvSpPr>
            <p:cNvPr name="Freeform 3" id="3"/>
            <p:cNvSpPr/>
            <p:nvPr/>
          </p:nvSpPr>
          <p:spPr>
            <a:xfrm flipH="false" flipV="false" rot="0">
              <a:off x="0" y="0"/>
              <a:ext cx="11022866" cy="6075893"/>
            </a:xfrm>
            <a:custGeom>
              <a:avLst/>
              <a:gdLst/>
              <a:ahLst/>
              <a:cxnLst/>
              <a:rect r="r" b="b" t="t" l="l"/>
              <a:pathLst>
                <a:path h="6075893" w="11022866">
                  <a:moveTo>
                    <a:pt x="0" y="0"/>
                  </a:moveTo>
                  <a:lnTo>
                    <a:pt x="11022866" y="0"/>
                  </a:lnTo>
                  <a:lnTo>
                    <a:pt x="11022866" y="6075893"/>
                  </a:lnTo>
                  <a:lnTo>
                    <a:pt x="0" y="6075893"/>
                  </a:lnTo>
                  <a:close/>
                </a:path>
              </a:pathLst>
            </a:custGeom>
            <a:solidFill>
              <a:srgbClr val="EAE5CF"/>
            </a:solidFill>
          </p:spPr>
        </p:sp>
        <p:sp>
          <p:nvSpPr>
            <p:cNvPr name="TextBox 4" id="4"/>
            <p:cNvSpPr txBox="true"/>
            <p:nvPr/>
          </p:nvSpPr>
          <p:spPr>
            <a:xfrm>
              <a:off x="0" y="-38100"/>
              <a:ext cx="11022866" cy="611399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98798" y="350180"/>
            <a:ext cx="1059803" cy="801597"/>
          </a:xfrm>
          <a:custGeom>
            <a:avLst/>
            <a:gdLst/>
            <a:ahLst/>
            <a:cxnLst/>
            <a:rect r="r" b="b" t="t" l="l"/>
            <a:pathLst>
              <a:path h="801597" w="1059803">
                <a:moveTo>
                  <a:pt x="0" y="0"/>
                </a:moveTo>
                <a:lnTo>
                  <a:pt x="1059804" y="0"/>
                </a:lnTo>
                <a:lnTo>
                  <a:pt x="1059804" y="801597"/>
                </a:lnTo>
                <a:lnTo>
                  <a:pt x="0" y="8015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38436" y="479516"/>
            <a:ext cx="3107447" cy="533400"/>
          </a:xfrm>
          <a:prstGeom prst="rect">
            <a:avLst/>
          </a:prstGeom>
        </p:spPr>
        <p:txBody>
          <a:bodyPr anchor="t" rtlCol="false" tIns="0" lIns="0" bIns="0" rIns="0">
            <a:spAutoFit/>
          </a:bodyPr>
          <a:lstStyle/>
          <a:p>
            <a:pPr algn="l">
              <a:lnSpc>
                <a:spcPts val="4199"/>
              </a:lnSpc>
            </a:pPr>
            <a:r>
              <a:rPr lang="en-US" sz="3499" spc="-104">
                <a:solidFill>
                  <a:srgbClr val="3F1F01"/>
                </a:solidFill>
                <a:latin typeface="Norwester"/>
                <a:ea typeface="Norwester"/>
                <a:cs typeface="Norwester"/>
                <a:sym typeface="Norwester"/>
              </a:rPr>
              <a:t>Tables:</a:t>
            </a:r>
          </a:p>
        </p:txBody>
      </p:sp>
      <p:sp>
        <p:nvSpPr>
          <p:cNvPr name="TextBox 7" id="7"/>
          <p:cNvSpPr txBox="true"/>
          <p:nvPr/>
        </p:nvSpPr>
        <p:spPr>
          <a:xfrm rot="0">
            <a:off x="640478" y="1489513"/>
            <a:ext cx="8796234" cy="8209985"/>
          </a:xfrm>
          <a:prstGeom prst="rect">
            <a:avLst/>
          </a:prstGeom>
        </p:spPr>
        <p:txBody>
          <a:bodyPr anchor="t" rtlCol="false" tIns="0" lIns="0" bIns="0" rIns="0">
            <a:spAutoFit/>
          </a:bodyPr>
          <a:lstStyle/>
          <a:p>
            <a:pPr algn="ctr">
              <a:lnSpc>
                <a:spcPts val="1987"/>
              </a:lnSpc>
            </a:pPr>
            <a:r>
              <a:rPr lang="en-US" sz="1419" b="true">
                <a:solidFill>
                  <a:srgbClr val="78553F"/>
                </a:solidFill>
                <a:latin typeface="Helvetica World Bold"/>
                <a:ea typeface="Helvetica World Bold"/>
                <a:cs typeface="Helvetica World Bold"/>
                <a:sym typeface="Helvetica World Bold"/>
              </a:rPr>
              <a:t>CREATE TABLE categories (</a:t>
            </a:r>
          </a:p>
          <a:p>
            <a:pPr algn="ctr">
              <a:lnSpc>
                <a:spcPts val="1987"/>
              </a:lnSpc>
            </a:pPr>
            <a:r>
              <a:rPr lang="en-US" sz="1419" b="true">
                <a:solidFill>
                  <a:srgbClr val="78553F"/>
                </a:solidFill>
                <a:latin typeface="Helvetica World Bold"/>
                <a:ea typeface="Helvetica World Bold"/>
                <a:cs typeface="Helvetica World Bold"/>
                <a:sym typeface="Helvetica World Bold"/>
              </a:rPr>
              <a:t>   id INT AUTO_INCREMENT PRIMARY KEY,</a:t>
            </a:r>
          </a:p>
          <a:p>
            <a:pPr algn="ctr">
              <a:lnSpc>
                <a:spcPts val="1987"/>
              </a:lnSpc>
            </a:pPr>
            <a:r>
              <a:rPr lang="en-US" sz="1419" b="true">
                <a:solidFill>
                  <a:srgbClr val="78553F"/>
                </a:solidFill>
                <a:latin typeface="Helvetica World Bold"/>
                <a:ea typeface="Helvetica World Bold"/>
                <a:cs typeface="Helvetica World Bold"/>
                <a:sym typeface="Helvetica World Bold"/>
              </a:rPr>
              <a:t>   name VARCHAR(50)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a:t>
            </a:r>
          </a:p>
          <a:p>
            <a:pPr algn="ctr">
              <a:lnSpc>
                <a:spcPts val="1987"/>
              </a:lnSpc>
            </a:pPr>
            <a:r>
              <a:rPr lang="en-US" sz="1419" b="true">
                <a:solidFill>
                  <a:srgbClr val="78553F"/>
                </a:solidFill>
                <a:latin typeface="Helvetica World Bold"/>
                <a:ea typeface="Helvetica World Bold"/>
                <a:cs typeface="Helvetica World Bold"/>
                <a:sym typeface="Helvetica World Bold"/>
              </a:rPr>
              <a:t>CREATE TABLE customers (</a:t>
            </a:r>
          </a:p>
          <a:p>
            <a:pPr algn="ctr">
              <a:lnSpc>
                <a:spcPts val="1987"/>
              </a:lnSpc>
            </a:pPr>
            <a:r>
              <a:rPr lang="en-US" sz="1419" b="true">
                <a:solidFill>
                  <a:srgbClr val="78553F"/>
                </a:solidFill>
                <a:latin typeface="Helvetica World Bold"/>
                <a:ea typeface="Helvetica World Bold"/>
                <a:cs typeface="Helvetica World Bold"/>
                <a:sym typeface="Helvetica World Bold"/>
              </a:rPr>
              <a:t> id INT AUTO_INCREMENT PRIMARY KEY,</a:t>
            </a:r>
          </a:p>
          <a:p>
            <a:pPr algn="ctr">
              <a:lnSpc>
                <a:spcPts val="1987"/>
              </a:lnSpc>
            </a:pPr>
            <a:r>
              <a:rPr lang="en-US" sz="1419" b="true">
                <a:solidFill>
                  <a:srgbClr val="78553F"/>
                </a:solidFill>
                <a:latin typeface="Helvetica World Bold"/>
                <a:ea typeface="Helvetica World Bold"/>
                <a:cs typeface="Helvetica World Bold"/>
                <a:sym typeface="Helvetica World Bold"/>
              </a:rPr>
              <a:t> username VARCHAR(100) NOT NULL unique,</a:t>
            </a:r>
          </a:p>
          <a:p>
            <a:pPr algn="ctr">
              <a:lnSpc>
                <a:spcPts val="1987"/>
              </a:lnSpc>
            </a:pPr>
            <a:r>
              <a:rPr lang="en-US" sz="1419" b="true">
                <a:solidFill>
                  <a:srgbClr val="78553F"/>
                </a:solidFill>
                <a:latin typeface="Helvetica World Bold"/>
                <a:ea typeface="Helvetica World Bold"/>
                <a:cs typeface="Helvetica World Bold"/>
                <a:sym typeface="Helvetica World Bold"/>
              </a:rPr>
              <a:t> email VARCHAR(100) NOT NULL unique,</a:t>
            </a:r>
          </a:p>
          <a:p>
            <a:pPr algn="ctr">
              <a:lnSpc>
                <a:spcPts val="1987"/>
              </a:lnSpc>
            </a:pPr>
            <a:r>
              <a:rPr lang="en-US" sz="1419" b="true">
                <a:solidFill>
                  <a:srgbClr val="78553F"/>
                </a:solidFill>
                <a:latin typeface="Helvetica World Bold"/>
                <a:ea typeface="Helvetica World Bold"/>
                <a:cs typeface="Helvetica World Bold"/>
                <a:sym typeface="Helvetica World Bold"/>
              </a:rPr>
              <a:t> phone_number VARCHAR(20)  NOT NULL unique,</a:t>
            </a:r>
          </a:p>
          <a:p>
            <a:pPr algn="ctr">
              <a:lnSpc>
                <a:spcPts val="1987"/>
              </a:lnSpc>
            </a:pPr>
            <a:r>
              <a:rPr lang="en-US" sz="1419" b="true">
                <a:solidFill>
                  <a:srgbClr val="78553F"/>
                </a:solidFill>
                <a:latin typeface="Helvetica World Bold"/>
                <a:ea typeface="Helvetica World Bold"/>
                <a:cs typeface="Helvetica World Bold"/>
                <a:sym typeface="Helvetica World Bold"/>
              </a:rPr>
              <a:t> password VARCHAR(100)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a:t>
            </a:r>
          </a:p>
          <a:p>
            <a:pPr algn="ctr">
              <a:lnSpc>
                <a:spcPts val="1987"/>
              </a:lnSpc>
            </a:pPr>
            <a:r>
              <a:rPr lang="en-US" sz="1419" b="true">
                <a:solidFill>
                  <a:srgbClr val="78553F"/>
                </a:solidFill>
                <a:latin typeface="Helvetica World Bold"/>
                <a:ea typeface="Helvetica World Bold"/>
                <a:cs typeface="Helvetica World Bold"/>
                <a:sym typeface="Helvetica World Bold"/>
              </a:rPr>
              <a:t>CREATE TABLE products (</a:t>
            </a:r>
          </a:p>
          <a:p>
            <a:pPr algn="ctr">
              <a:lnSpc>
                <a:spcPts val="1987"/>
              </a:lnSpc>
            </a:pPr>
            <a:r>
              <a:rPr lang="en-US" sz="1419" b="true">
                <a:solidFill>
                  <a:srgbClr val="78553F"/>
                </a:solidFill>
                <a:latin typeface="Helvetica World Bold"/>
                <a:ea typeface="Helvetica World Bold"/>
                <a:cs typeface="Helvetica World Bold"/>
                <a:sym typeface="Helvetica World Bold"/>
              </a:rPr>
              <a:t>   id INT AUTO_INCREMENT PRIMARY KEY,</a:t>
            </a:r>
          </a:p>
          <a:p>
            <a:pPr algn="ctr">
              <a:lnSpc>
                <a:spcPts val="1987"/>
              </a:lnSpc>
            </a:pPr>
            <a:r>
              <a:rPr lang="en-US" sz="1419" b="true">
                <a:solidFill>
                  <a:srgbClr val="78553F"/>
                </a:solidFill>
                <a:latin typeface="Helvetica World Bold"/>
                <a:ea typeface="Helvetica World Bold"/>
                <a:cs typeface="Helvetica World Bold"/>
                <a:sym typeface="Helvetica World Bold"/>
              </a:rPr>
              <a:t>   name VARCHAR(100)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   price DECIMAL(10,2)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   category_id INT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   FOREIGN KEY (category_id) REFERENCES categories(id)</a:t>
            </a:r>
          </a:p>
          <a:p>
            <a:pPr algn="ctr">
              <a:lnSpc>
                <a:spcPts val="1987"/>
              </a:lnSpc>
            </a:pPr>
            <a:r>
              <a:rPr lang="en-US" sz="1419" b="true">
                <a:solidFill>
                  <a:srgbClr val="78553F"/>
                </a:solidFill>
                <a:latin typeface="Helvetica World Bold"/>
                <a:ea typeface="Helvetica World Bold"/>
                <a:cs typeface="Helvetica World Bold"/>
                <a:sym typeface="Helvetica World Bold"/>
              </a:rPr>
              <a:t>);</a:t>
            </a:r>
          </a:p>
          <a:p>
            <a:pPr algn="ctr">
              <a:lnSpc>
                <a:spcPts val="1987"/>
              </a:lnSpc>
            </a:pPr>
            <a:r>
              <a:rPr lang="en-US" sz="1419" b="true">
                <a:solidFill>
                  <a:srgbClr val="78553F"/>
                </a:solidFill>
                <a:latin typeface="Helvetica World Bold"/>
                <a:ea typeface="Helvetica World Bold"/>
                <a:cs typeface="Helvetica World Bold"/>
                <a:sym typeface="Helvetica World Bold"/>
              </a:rPr>
              <a:t>CREATE TABLE staff (</a:t>
            </a:r>
          </a:p>
          <a:p>
            <a:pPr algn="ctr">
              <a:lnSpc>
                <a:spcPts val="1987"/>
              </a:lnSpc>
            </a:pPr>
            <a:r>
              <a:rPr lang="en-US" sz="1419" b="true">
                <a:solidFill>
                  <a:srgbClr val="78553F"/>
                </a:solidFill>
                <a:latin typeface="Helvetica World Bold"/>
                <a:ea typeface="Helvetica World Bold"/>
                <a:cs typeface="Helvetica World Bold"/>
                <a:sym typeface="Helvetica World Bold"/>
              </a:rPr>
              <a:t> id INT AUTO_INCREMENT PRIMARY KEY,</a:t>
            </a:r>
          </a:p>
          <a:p>
            <a:pPr algn="ctr">
              <a:lnSpc>
                <a:spcPts val="1987"/>
              </a:lnSpc>
            </a:pPr>
            <a:r>
              <a:rPr lang="en-US" sz="1419" b="true">
                <a:solidFill>
                  <a:srgbClr val="78553F"/>
                </a:solidFill>
                <a:latin typeface="Helvetica World Bold"/>
                <a:ea typeface="Helvetica World Bold"/>
                <a:cs typeface="Helvetica World Bold"/>
                <a:sym typeface="Helvetica World Bold"/>
              </a:rPr>
              <a:t> name VARCHAR(100) unique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 position ENUM('waiter', 'chef', 'cashier', 'barista', 'dishwasher', 'pastry chef', 'cleaner', 'delivery person')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 email VARCHAR(100) unique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 wage DECIMAL(10,2)  NOT NULL</a:t>
            </a:r>
          </a:p>
          <a:p>
            <a:pPr algn="ctr">
              <a:lnSpc>
                <a:spcPts val="1987"/>
              </a:lnSpc>
            </a:pPr>
            <a:r>
              <a:rPr lang="en-US" sz="1419" b="true">
                <a:solidFill>
                  <a:srgbClr val="78553F"/>
                </a:solidFill>
                <a:latin typeface="Helvetica World Bold"/>
                <a:ea typeface="Helvetica World Bold"/>
                <a:cs typeface="Helvetica World Bold"/>
                <a:sym typeface="Helvetica World Bold"/>
              </a:rPr>
              <a:t>);</a:t>
            </a:r>
          </a:p>
          <a:p>
            <a:pPr algn="ctr">
              <a:lnSpc>
                <a:spcPts val="1987"/>
              </a:lnSpc>
            </a:pPr>
          </a:p>
          <a:p>
            <a:pPr algn="ctr">
              <a:lnSpc>
                <a:spcPts val="1987"/>
              </a:lnSpc>
              <a:spcBef>
                <a:spcPct val="0"/>
              </a:spcBef>
            </a:pPr>
          </a:p>
          <a:p>
            <a:pPr algn="ctr">
              <a:lnSpc>
                <a:spcPts val="1987"/>
              </a:lnSpc>
              <a:spcBef>
                <a:spcPct val="0"/>
              </a:spcBef>
            </a:pPr>
          </a:p>
          <a:p>
            <a:pPr algn="ctr">
              <a:lnSpc>
                <a:spcPts val="1987"/>
              </a:lnSpc>
              <a:spcBef>
                <a:spcPct val="0"/>
              </a:spcBef>
            </a:pPr>
          </a:p>
          <a:p>
            <a:pPr algn="ctr">
              <a:lnSpc>
                <a:spcPts val="1987"/>
              </a:lnSpc>
              <a:spcBef>
                <a:spcPct val="0"/>
              </a:spcBef>
            </a:pPr>
          </a:p>
        </p:txBody>
      </p:sp>
      <p:sp>
        <p:nvSpPr>
          <p:cNvPr name="TextBox 8" id="8"/>
          <p:cNvSpPr txBox="true"/>
          <p:nvPr/>
        </p:nvSpPr>
        <p:spPr>
          <a:xfrm rot="0">
            <a:off x="9777287" y="722403"/>
            <a:ext cx="7482013" cy="9420117"/>
          </a:xfrm>
          <a:prstGeom prst="rect">
            <a:avLst/>
          </a:prstGeom>
        </p:spPr>
        <p:txBody>
          <a:bodyPr anchor="t" rtlCol="false" tIns="0" lIns="0" bIns="0" rIns="0">
            <a:spAutoFit/>
          </a:bodyPr>
          <a:lstStyle/>
          <a:p>
            <a:pPr algn="ctr">
              <a:lnSpc>
                <a:spcPts val="1986"/>
              </a:lnSpc>
            </a:pPr>
          </a:p>
          <a:p>
            <a:pPr algn="ctr">
              <a:lnSpc>
                <a:spcPts val="1986"/>
              </a:lnSpc>
            </a:pPr>
            <a:r>
              <a:rPr lang="en-US" sz="1418" b="true">
                <a:solidFill>
                  <a:srgbClr val="78553F"/>
                </a:solidFill>
                <a:latin typeface="Helvetica World Bold"/>
                <a:ea typeface="Helvetica World Bold"/>
                <a:cs typeface="Helvetica World Bold"/>
                <a:sym typeface="Helvetica World Bold"/>
              </a:rPr>
              <a:t>CREATE TABLE orders (</a:t>
            </a:r>
          </a:p>
          <a:p>
            <a:pPr algn="ctr">
              <a:lnSpc>
                <a:spcPts val="1986"/>
              </a:lnSpc>
            </a:pPr>
            <a:r>
              <a:rPr lang="en-US" sz="1418" b="true">
                <a:solidFill>
                  <a:srgbClr val="78553F"/>
                </a:solidFill>
                <a:latin typeface="Helvetica World Bold"/>
                <a:ea typeface="Helvetica World Bold"/>
                <a:cs typeface="Helvetica World Bold"/>
                <a:sym typeface="Helvetica World Bold"/>
              </a:rPr>
              <a:t> id INT AUTO_INCREMENT PRIMARY KEY,</a:t>
            </a:r>
          </a:p>
          <a:p>
            <a:pPr algn="ctr">
              <a:lnSpc>
                <a:spcPts val="1986"/>
              </a:lnSpc>
            </a:pPr>
            <a:r>
              <a:rPr lang="en-US" sz="1418" b="true">
                <a:solidFill>
                  <a:srgbClr val="78553F"/>
                </a:solidFill>
                <a:latin typeface="Helvetica World Bold"/>
                <a:ea typeface="Helvetica World Bold"/>
                <a:cs typeface="Helvetica World Bold"/>
                <a:sym typeface="Helvetica World Bold"/>
              </a:rPr>
              <a:t> total_price DECIMAL(10,2)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customer_id INT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 date TIMESTAMP DEFAULT CURRENT_TIMESTAMP,</a:t>
            </a:r>
          </a:p>
          <a:p>
            <a:pPr algn="ctr">
              <a:lnSpc>
                <a:spcPts val="1986"/>
              </a:lnSpc>
            </a:pPr>
            <a:r>
              <a:rPr lang="en-US" sz="1418" b="true">
                <a:solidFill>
                  <a:srgbClr val="78553F"/>
                </a:solidFill>
                <a:latin typeface="Helvetica World Bold"/>
                <a:ea typeface="Helvetica World Bold"/>
                <a:cs typeface="Helvetica World Bold"/>
                <a:sym typeface="Helvetica World Bold"/>
              </a:rPr>
              <a:t>address VARCHAR(250)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prepared_by int,</a:t>
            </a:r>
          </a:p>
          <a:p>
            <a:pPr algn="ctr">
              <a:lnSpc>
                <a:spcPts val="1986"/>
              </a:lnSpc>
            </a:pPr>
            <a:r>
              <a:rPr lang="en-US" sz="1418" b="true">
                <a:solidFill>
                  <a:srgbClr val="78553F"/>
                </a:solidFill>
                <a:latin typeface="Helvetica World Bold"/>
                <a:ea typeface="Helvetica World Bold"/>
                <a:cs typeface="Helvetica World Bold"/>
                <a:sym typeface="Helvetica World Bold"/>
              </a:rPr>
              <a:t>Foreign Key (customer_id) references customers (id),</a:t>
            </a:r>
          </a:p>
          <a:p>
            <a:pPr algn="ctr">
              <a:lnSpc>
                <a:spcPts val="1986"/>
              </a:lnSpc>
            </a:pPr>
            <a:r>
              <a:rPr lang="en-US" sz="1418" b="true">
                <a:solidFill>
                  <a:srgbClr val="78553F"/>
                </a:solidFill>
                <a:latin typeface="Helvetica World Bold"/>
                <a:ea typeface="Helvetica World Bold"/>
                <a:cs typeface="Helvetica World Bold"/>
                <a:sym typeface="Helvetica World Bold"/>
              </a:rPr>
              <a:t>Foreign Key (prepared_by) references staff(id)</a:t>
            </a:r>
          </a:p>
          <a:p>
            <a:pPr algn="ctr">
              <a:lnSpc>
                <a:spcPts val="1986"/>
              </a:lnSpc>
            </a:pPr>
            <a:r>
              <a:rPr lang="en-US" sz="1418" b="true">
                <a:solidFill>
                  <a:srgbClr val="78553F"/>
                </a:solidFill>
                <a:latin typeface="Helvetica World Bold"/>
                <a:ea typeface="Helvetica World Bold"/>
                <a:cs typeface="Helvetica World Bold"/>
                <a:sym typeface="Helvetica World Bold"/>
              </a:rPr>
              <a:t>);</a:t>
            </a:r>
          </a:p>
          <a:p>
            <a:pPr algn="ctr">
              <a:lnSpc>
                <a:spcPts val="1986"/>
              </a:lnSpc>
            </a:pPr>
            <a:r>
              <a:rPr lang="en-US" sz="1418" b="true">
                <a:solidFill>
                  <a:srgbClr val="78553F"/>
                </a:solidFill>
                <a:latin typeface="Helvetica World Bold"/>
                <a:ea typeface="Helvetica World Bold"/>
                <a:cs typeface="Helvetica World Bold"/>
                <a:sym typeface="Helvetica World Bold"/>
              </a:rPr>
              <a:t>CREATE TABLE order_items (</a:t>
            </a:r>
          </a:p>
          <a:p>
            <a:pPr algn="ctr">
              <a:lnSpc>
                <a:spcPts val="1986"/>
              </a:lnSpc>
            </a:pPr>
            <a:r>
              <a:rPr lang="en-US" sz="1418" b="true">
                <a:solidFill>
                  <a:srgbClr val="78553F"/>
                </a:solidFill>
                <a:latin typeface="Helvetica World Bold"/>
                <a:ea typeface="Helvetica World Bold"/>
                <a:cs typeface="Helvetica World Bold"/>
                <a:sym typeface="Helvetica World Bold"/>
              </a:rPr>
              <a:t> id INT AUTO_INCREMENT PRIMARY KEY,</a:t>
            </a:r>
          </a:p>
          <a:p>
            <a:pPr algn="ctr">
              <a:lnSpc>
                <a:spcPts val="1986"/>
              </a:lnSpc>
            </a:pPr>
            <a:r>
              <a:rPr lang="en-US" sz="1418" b="true">
                <a:solidFill>
                  <a:srgbClr val="78553F"/>
                </a:solidFill>
                <a:latin typeface="Helvetica World Bold"/>
                <a:ea typeface="Helvetica World Bold"/>
                <a:cs typeface="Helvetica World Bold"/>
                <a:sym typeface="Helvetica World Bold"/>
              </a:rPr>
              <a:t> order_id INT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 product_id INT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 quantity INT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 total_price DECIMAL(10,2)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 FOREIGN KEY (order_id) REFERENCES orders(id),</a:t>
            </a:r>
          </a:p>
          <a:p>
            <a:pPr algn="ctr">
              <a:lnSpc>
                <a:spcPts val="1986"/>
              </a:lnSpc>
            </a:pPr>
            <a:r>
              <a:rPr lang="en-US" sz="1418" b="true">
                <a:solidFill>
                  <a:srgbClr val="78553F"/>
                </a:solidFill>
                <a:latin typeface="Helvetica World Bold"/>
                <a:ea typeface="Helvetica World Bold"/>
                <a:cs typeface="Helvetica World Bold"/>
                <a:sym typeface="Helvetica World Bold"/>
              </a:rPr>
              <a:t> FOREIGN KEY (product_id) REFERENCES products(id)</a:t>
            </a:r>
          </a:p>
          <a:p>
            <a:pPr algn="ctr">
              <a:lnSpc>
                <a:spcPts val="1986"/>
              </a:lnSpc>
            </a:pPr>
            <a:r>
              <a:rPr lang="en-US" sz="1418" b="true">
                <a:solidFill>
                  <a:srgbClr val="78553F"/>
                </a:solidFill>
                <a:latin typeface="Helvetica World Bold"/>
                <a:ea typeface="Helvetica World Bold"/>
                <a:cs typeface="Helvetica World Bold"/>
                <a:sym typeface="Helvetica World Bold"/>
              </a:rPr>
              <a:t>);</a:t>
            </a:r>
          </a:p>
          <a:p>
            <a:pPr algn="ctr">
              <a:lnSpc>
                <a:spcPts val="1986"/>
              </a:lnSpc>
            </a:pPr>
          </a:p>
          <a:p>
            <a:pPr algn="ctr">
              <a:lnSpc>
                <a:spcPts val="1986"/>
              </a:lnSpc>
            </a:pPr>
            <a:r>
              <a:rPr lang="en-US" sz="1418" b="true">
                <a:solidFill>
                  <a:srgbClr val="78553F"/>
                </a:solidFill>
                <a:latin typeface="Helvetica World Bold"/>
                <a:ea typeface="Helvetica World Bold"/>
                <a:cs typeface="Helvetica World Bold"/>
                <a:sym typeface="Helvetica World Bold"/>
              </a:rPr>
              <a:t>CREATE TABLE suppliers (</a:t>
            </a:r>
          </a:p>
          <a:p>
            <a:pPr algn="ctr">
              <a:lnSpc>
                <a:spcPts val="1986"/>
              </a:lnSpc>
            </a:pPr>
            <a:r>
              <a:rPr lang="en-US" sz="1418" b="true">
                <a:solidFill>
                  <a:srgbClr val="78553F"/>
                </a:solidFill>
                <a:latin typeface="Helvetica World Bold"/>
                <a:ea typeface="Helvetica World Bold"/>
                <a:cs typeface="Helvetica World Bold"/>
                <a:sym typeface="Helvetica World Bold"/>
              </a:rPr>
              <a:t>   id INT AUTO_INCREMENT PRIMARY KEY,</a:t>
            </a:r>
          </a:p>
          <a:p>
            <a:pPr algn="ctr">
              <a:lnSpc>
                <a:spcPts val="1986"/>
              </a:lnSpc>
            </a:pPr>
            <a:r>
              <a:rPr lang="en-US" sz="1418" b="true">
                <a:solidFill>
                  <a:srgbClr val="78553F"/>
                </a:solidFill>
                <a:latin typeface="Helvetica World Bold"/>
                <a:ea typeface="Helvetica World Bold"/>
                <a:cs typeface="Helvetica World Bold"/>
                <a:sym typeface="Helvetica World Bold"/>
              </a:rPr>
              <a:t>   name VARCHAR(100) not null ,</a:t>
            </a:r>
          </a:p>
          <a:p>
            <a:pPr algn="ctr">
              <a:lnSpc>
                <a:spcPts val="1986"/>
              </a:lnSpc>
            </a:pPr>
            <a:r>
              <a:rPr lang="en-US" sz="1418" b="true">
                <a:solidFill>
                  <a:srgbClr val="78553F"/>
                </a:solidFill>
                <a:latin typeface="Helvetica World Bold"/>
                <a:ea typeface="Helvetica World Bold"/>
                <a:cs typeface="Helvetica World Bold"/>
                <a:sym typeface="Helvetica World Bold"/>
              </a:rPr>
              <a:t>   contact_name VARCHAR(100) unique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a:t>
            </a:r>
          </a:p>
          <a:p>
            <a:pPr algn="ctr">
              <a:lnSpc>
                <a:spcPts val="1986"/>
              </a:lnSpc>
            </a:pPr>
            <a:r>
              <a:rPr lang="en-US" sz="1418" b="true">
                <a:solidFill>
                  <a:srgbClr val="78553F"/>
                </a:solidFill>
                <a:latin typeface="Helvetica World Bold"/>
                <a:ea typeface="Helvetica World Bold"/>
                <a:cs typeface="Helvetica World Bold"/>
                <a:sym typeface="Helvetica World Bold"/>
              </a:rPr>
              <a:t>CREATE TABLE managers(</a:t>
            </a:r>
          </a:p>
          <a:p>
            <a:pPr algn="ctr">
              <a:lnSpc>
                <a:spcPts val="1986"/>
              </a:lnSpc>
            </a:pPr>
            <a:r>
              <a:rPr lang="en-US" sz="1418" b="true">
                <a:solidFill>
                  <a:srgbClr val="78553F"/>
                </a:solidFill>
                <a:latin typeface="Helvetica World Bold"/>
                <a:ea typeface="Helvetica World Bold"/>
                <a:cs typeface="Helvetica World Bold"/>
                <a:sym typeface="Helvetica World Bold"/>
              </a:rPr>
              <a:t> id INT AUTO_INCREMENT PRIMARY KEY,</a:t>
            </a:r>
          </a:p>
          <a:p>
            <a:pPr algn="ctr">
              <a:lnSpc>
                <a:spcPts val="1986"/>
              </a:lnSpc>
            </a:pPr>
            <a:r>
              <a:rPr lang="en-US" sz="1418" b="true">
                <a:solidFill>
                  <a:srgbClr val="78553F"/>
                </a:solidFill>
                <a:latin typeface="Helvetica World Bold"/>
                <a:ea typeface="Helvetica World Bold"/>
                <a:cs typeface="Helvetica World Bold"/>
                <a:sym typeface="Helvetica World Bold"/>
              </a:rPr>
              <a:t> username VARCHAR(100) NOT NULL unique,</a:t>
            </a:r>
          </a:p>
          <a:p>
            <a:pPr algn="ctr">
              <a:lnSpc>
                <a:spcPts val="1986"/>
              </a:lnSpc>
            </a:pPr>
            <a:r>
              <a:rPr lang="en-US" sz="1418" b="true">
                <a:solidFill>
                  <a:srgbClr val="78553F"/>
                </a:solidFill>
                <a:latin typeface="Helvetica World Bold"/>
                <a:ea typeface="Helvetica World Bold"/>
                <a:cs typeface="Helvetica World Bold"/>
                <a:sym typeface="Helvetica World Bold"/>
              </a:rPr>
              <a:t> email VARCHAR(100) NOT NULL unique,</a:t>
            </a:r>
          </a:p>
          <a:p>
            <a:pPr algn="ctr">
              <a:lnSpc>
                <a:spcPts val="1986"/>
              </a:lnSpc>
            </a:pPr>
            <a:r>
              <a:rPr lang="en-US" sz="1418" b="true">
                <a:solidFill>
                  <a:srgbClr val="78553F"/>
                </a:solidFill>
                <a:latin typeface="Helvetica World Bold"/>
                <a:ea typeface="Helvetica World Bold"/>
                <a:cs typeface="Helvetica World Bold"/>
                <a:sym typeface="Helvetica World Bold"/>
              </a:rPr>
              <a:t> phone_number VARCHAR(20) unique,</a:t>
            </a:r>
          </a:p>
          <a:p>
            <a:pPr algn="ctr">
              <a:lnSpc>
                <a:spcPts val="1986"/>
              </a:lnSpc>
            </a:pPr>
            <a:r>
              <a:rPr lang="en-US" sz="1418" b="true">
                <a:solidFill>
                  <a:srgbClr val="78553F"/>
                </a:solidFill>
                <a:latin typeface="Helvetica World Bold"/>
                <a:ea typeface="Helvetica World Bold"/>
                <a:cs typeface="Helvetica World Bold"/>
                <a:sym typeface="Helvetica World Bold"/>
              </a:rPr>
              <a:t> password VARCHAR(100) NOT NULL</a:t>
            </a:r>
          </a:p>
          <a:p>
            <a:pPr algn="ctr">
              <a:lnSpc>
                <a:spcPts val="1986"/>
              </a:lnSpc>
            </a:pPr>
            <a:r>
              <a:rPr lang="en-US" sz="1418" b="true">
                <a:solidFill>
                  <a:srgbClr val="78553F"/>
                </a:solidFill>
                <a:latin typeface="Helvetica World Bold"/>
                <a:ea typeface="Helvetica World Bold"/>
                <a:cs typeface="Helvetica World Bold"/>
                <a:sym typeface="Helvetica World Bold"/>
              </a:rPr>
              <a:t>);</a:t>
            </a:r>
          </a:p>
          <a:p>
            <a:pPr algn="ctr">
              <a:lnSpc>
                <a:spcPts val="1986"/>
              </a:lnSpc>
            </a:pPr>
          </a:p>
          <a:p>
            <a:pPr algn="ctr">
              <a:lnSpc>
                <a:spcPts val="1986"/>
              </a:lnSpc>
              <a:spcBef>
                <a:spcPct val="0"/>
              </a:spcBef>
            </a:pPr>
          </a:p>
          <a:p>
            <a:pPr algn="ctr">
              <a:lnSpc>
                <a:spcPts val="198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16937751" y="8936751"/>
            <a:ext cx="321549" cy="321549"/>
          </a:xfrm>
          <a:custGeom>
            <a:avLst/>
            <a:gdLst/>
            <a:ahLst/>
            <a:cxnLst/>
            <a:rect r="r" b="b" t="t" l="l"/>
            <a:pathLst>
              <a:path h="321549" w="321549">
                <a:moveTo>
                  <a:pt x="0" y="0"/>
                </a:moveTo>
                <a:lnTo>
                  <a:pt x="321549" y="0"/>
                </a:lnTo>
                <a:lnTo>
                  <a:pt x="321549" y="321549"/>
                </a:lnTo>
                <a:lnTo>
                  <a:pt x="0" y="321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9644" y="213370"/>
            <a:ext cx="1093944" cy="1093944"/>
          </a:xfrm>
          <a:custGeom>
            <a:avLst/>
            <a:gdLst/>
            <a:ahLst/>
            <a:cxnLst/>
            <a:rect r="r" b="b" t="t" l="l"/>
            <a:pathLst>
              <a:path h="1093944" w="1093944">
                <a:moveTo>
                  <a:pt x="0" y="0"/>
                </a:moveTo>
                <a:lnTo>
                  <a:pt x="1093944" y="0"/>
                </a:lnTo>
                <a:lnTo>
                  <a:pt x="1093944" y="1093944"/>
                </a:lnTo>
                <a:lnTo>
                  <a:pt x="0" y="1093944"/>
                </a:lnTo>
                <a:lnTo>
                  <a:pt x="0" y="0"/>
                </a:lnTo>
                <a:close/>
              </a:path>
            </a:pathLst>
          </a:custGeom>
          <a:blipFill>
            <a:blip r:embed="rId4"/>
            <a:stretch>
              <a:fillRect l="0" t="0" r="0" b="0"/>
            </a:stretch>
          </a:blipFill>
        </p:spPr>
      </p:sp>
      <p:sp>
        <p:nvSpPr>
          <p:cNvPr name="TextBox 4" id="4"/>
          <p:cNvSpPr txBox="true"/>
          <p:nvPr/>
        </p:nvSpPr>
        <p:spPr>
          <a:xfrm rot="0">
            <a:off x="3841963" y="1475543"/>
            <a:ext cx="1385267" cy="514404"/>
          </a:xfrm>
          <a:prstGeom prst="rect">
            <a:avLst/>
          </a:prstGeom>
        </p:spPr>
        <p:txBody>
          <a:bodyPr anchor="t" rtlCol="false" tIns="0" lIns="0" bIns="0" rIns="0">
            <a:spAutoFit/>
          </a:bodyPr>
          <a:lstStyle/>
          <a:p>
            <a:pPr algn="ctr">
              <a:lnSpc>
                <a:spcPts val="4079"/>
              </a:lnSpc>
            </a:pPr>
            <a:r>
              <a:rPr lang="en-US" sz="3399" spc="-101">
                <a:solidFill>
                  <a:srgbClr val="FFFCEE"/>
                </a:solidFill>
                <a:latin typeface="Helvetica World"/>
                <a:ea typeface="Helvetica World"/>
                <a:cs typeface="Helvetica World"/>
                <a:sym typeface="Helvetica World"/>
              </a:rPr>
              <a:t>Origins</a:t>
            </a:r>
          </a:p>
        </p:txBody>
      </p:sp>
      <p:sp>
        <p:nvSpPr>
          <p:cNvPr name="TextBox 5" id="5"/>
          <p:cNvSpPr txBox="true"/>
          <p:nvPr/>
        </p:nvSpPr>
        <p:spPr>
          <a:xfrm rot="0">
            <a:off x="0" y="731767"/>
            <a:ext cx="5589639" cy="9128715"/>
          </a:xfrm>
          <a:prstGeom prst="rect">
            <a:avLst/>
          </a:prstGeom>
        </p:spPr>
        <p:txBody>
          <a:bodyPr anchor="t" rtlCol="false" tIns="0" lIns="0" bIns="0" rIns="0">
            <a:spAutoFit/>
          </a:bodyPr>
          <a:lstStyle/>
          <a:p>
            <a:pPr algn="ctr">
              <a:lnSpc>
                <a:spcPts val="2417"/>
              </a:lnSpc>
            </a:pPr>
          </a:p>
          <a:p>
            <a:pPr algn="ctr">
              <a:lnSpc>
                <a:spcPts val="2417"/>
              </a:lnSpc>
            </a:pPr>
          </a:p>
          <a:p>
            <a:pPr algn="ctr">
              <a:lnSpc>
                <a:spcPts val="2417"/>
              </a:lnSpc>
            </a:pPr>
            <a:r>
              <a:rPr lang="en-US" sz="1726" b="true">
                <a:solidFill>
                  <a:srgbClr val="78553F"/>
                </a:solidFill>
                <a:latin typeface="Canva Sans Bold"/>
                <a:ea typeface="Canva Sans Bold"/>
                <a:cs typeface="Canva Sans Bold"/>
                <a:sym typeface="Canva Sans Bold"/>
              </a:rPr>
              <a:t>INSERT INTO categories (name) VALUES </a:t>
            </a:r>
          </a:p>
          <a:p>
            <a:pPr algn="ctr">
              <a:lnSpc>
                <a:spcPts val="2417"/>
              </a:lnSpc>
            </a:pPr>
            <a:r>
              <a:rPr lang="en-US" sz="1726" b="true">
                <a:solidFill>
                  <a:srgbClr val="78553F"/>
                </a:solidFill>
                <a:latin typeface="Canva Sans Bold"/>
                <a:ea typeface="Canva Sans Bold"/>
                <a:cs typeface="Canva Sans Bold"/>
                <a:sym typeface="Canva Sans Bold"/>
              </a:rPr>
              <a:t>('Breakfast'), </a:t>
            </a:r>
          </a:p>
          <a:p>
            <a:pPr algn="ctr">
              <a:lnSpc>
                <a:spcPts val="2417"/>
              </a:lnSpc>
            </a:pPr>
            <a:r>
              <a:rPr lang="en-US" sz="1726" b="true">
                <a:solidFill>
                  <a:srgbClr val="78553F"/>
                </a:solidFill>
                <a:latin typeface="Canva Sans Bold"/>
                <a:ea typeface="Canva Sans Bold"/>
                <a:cs typeface="Canva Sans Bold"/>
                <a:sym typeface="Canva Sans Bold"/>
              </a:rPr>
              <a:t>('Appetizers'), </a:t>
            </a:r>
          </a:p>
          <a:p>
            <a:pPr algn="ctr">
              <a:lnSpc>
                <a:spcPts val="2417"/>
              </a:lnSpc>
            </a:pPr>
            <a:r>
              <a:rPr lang="en-US" sz="1726" b="true">
                <a:solidFill>
                  <a:srgbClr val="78553F"/>
                </a:solidFill>
                <a:latin typeface="Canva Sans Bold"/>
                <a:ea typeface="Canva Sans Bold"/>
                <a:cs typeface="Canva Sans Bold"/>
                <a:sym typeface="Canva Sans Bold"/>
              </a:rPr>
              <a:t>('Soup'), </a:t>
            </a:r>
          </a:p>
          <a:p>
            <a:pPr algn="ctr">
              <a:lnSpc>
                <a:spcPts val="2417"/>
              </a:lnSpc>
            </a:pPr>
            <a:r>
              <a:rPr lang="en-US" sz="1726" b="true">
                <a:solidFill>
                  <a:srgbClr val="78553F"/>
                </a:solidFill>
                <a:latin typeface="Canva Sans Bold"/>
                <a:ea typeface="Canva Sans Bold"/>
                <a:cs typeface="Canva Sans Bold"/>
                <a:sym typeface="Canva Sans Bold"/>
              </a:rPr>
              <a:t>('Hamburger'), </a:t>
            </a:r>
          </a:p>
          <a:p>
            <a:pPr algn="ctr">
              <a:lnSpc>
                <a:spcPts val="2417"/>
              </a:lnSpc>
            </a:pPr>
            <a:r>
              <a:rPr lang="en-US" sz="1726" b="true">
                <a:solidFill>
                  <a:srgbClr val="78553F"/>
                </a:solidFill>
                <a:latin typeface="Canva Sans Bold"/>
                <a:ea typeface="Canva Sans Bold"/>
                <a:cs typeface="Canva Sans Bold"/>
                <a:sym typeface="Canva Sans Bold"/>
              </a:rPr>
              <a:t>('Pizza'), </a:t>
            </a:r>
          </a:p>
          <a:p>
            <a:pPr algn="ctr">
              <a:lnSpc>
                <a:spcPts val="2417"/>
              </a:lnSpc>
            </a:pPr>
            <a:r>
              <a:rPr lang="en-US" sz="1726" b="true">
                <a:solidFill>
                  <a:srgbClr val="78553F"/>
                </a:solidFill>
                <a:latin typeface="Canva Sans Bold"/>
                <a:ea typeface="Canva Sans Bold"/>
                <a:cs typeface="Canva Sans Bold"/>
                <a:sym typeface="Canva Sans Bold"/>
              </a:rPr>
              <a:t>('Pasta'), </a:t>
            </a:r>
          </a:p>
          <a:p>
            <a:pPr algn="ctr">
              <a:lnSpc>
                <a:spcPts val="2417"/>
              </a:lnSpc>
            </a:pPr>
            <a:r>
              <a:rPr lang="en-US" sz="1726" b="true">
                <a:solidFill>
                  <a:srgbClr val="78553F"/>
                </a:solidFill>
                <a:latin typeface="Canva Sans Bold"/>
                <a:ea typeface="Canva Sans Bold"/>
                <a:cs typeface="Canva Sans Bold"/>
                <a:sym typeface="Canva Sans Bold"/>
              </a:rPr>
              <a:t>('Chicken'), </a:t>
            </a:r>
          </a:p>
          <a:p>
            <a:pPr algn="ctr">
              <a:lnSpc>
                <a:spcPts val="2417"/>
              </a:lnSpc>
            </a:pPr>
            <a:r>
              <a:rPr lang="en-US" sz="1726" b="true">
                <a:solidFill>
                  <a:srgbClr val="78553F"/>
                </a:solidFill>
                <a:latin typeface="Canva Sans Bold"/>
                <a:ea typeface="Canva Sans Bold"/>
                <a:cs typeface="Canva Sans Bold"/>
                <a:sym typeface="Canva Sans Bold"/>
              </a:rPr>
              <a:t>('Salads'), </a:t>
            </a:r>
          </a:p>
          <a:p>
            <a:pPr algn="ctr">
              <a:lnSpc>
                <a:spcPts val="2417"/>
              </a:lnSpc>
            </a:pPr>
            <a:r>
              <a:rPr lang="en-US" sz="1726" b="true">
                <a:solidFill>
                  <a:srgbClr val="78553F"/>
                </a:solidFill>
                <a:latin typeface="Canva Sans Bold"/>
                <a:ea typeface="Canva Sans Bold"/>
                <a:cs typeface="Canva Sans Bold"/>
                <a:sym typeface="Canva Sans Bold"/>
              </a:rPr>
              <a:t>('Deserts');</a:t>
            </a:r>
          </a:p>
          <a:p>
            <a:pPr algn="ctr">
              <a:lnSpc>
                <a:spcPts val="2417"/>
              </a:lnSpc>
            </a:pPr>
          </a:p>
          <a:p>
            <a:pPr algn="ctr">
              <a:lnSpc>
                <a:spcPts val="2417"/>
              </a:lnSpc>
            </a:pPr>
          </a:p>
          <a:p>
            <a:pPr algn="ctr">
              <a:lnSpc>
                <a:spcPts val="2417"/>
              </a:lnSpc>
            </a:pPr>
            <a:r>
              <a:rPr lang="en-US" sz="1726" b="true">
                <a:solidFill>
                  <a:srgbClr val="78553F"/>
                </a:solidFill>
                <a:latin typeface="Canva Sans Bold"/>
                <a:ea typeface="Canva Sans Bold"/>
                <a:cs typeface="Canva Sans Bold"/>
                <a:sym typeface="Canva Sans Bold"/>
              </a:rPr>
              <a:t>INSERT INTO products (name, price, category_id) VALUES </a:t>
            </a:r>
          </a:p>
          <a:p>
            <a:pPr algn="ctr">
              <a:lnSpc>
                <a:spcPts val="2417"/>
              </a:lnSpc>
            </a:pPr>
            <a:r>
              <a:rPr lang="en-US" sz="1726" b="true">
                <a:solidFill>
                  <a:srgbClr val="78553F"/>
                </a:solidFill>
                <a:latin typeface="Canva Sans Bold"/>
                <a:ea typeface="Canva Sans Bold"/>
                <a:cs typeface="Canva Sans Bold"/>
                <a:sym typeface="Canva Sans Bold"/>
              </a:rPr>
              <a:t>('Breakfast Spread', 300.00, 1),</a:t>
            </a:r>
          </a:p>
          <a:p>
            <a:pPr algn="ctr">
              <a:lnSpc>
                <a:spcPts val="2417"/>
              </a:lnSpc>
            </a:pPr>
            <a:r>
              <a:rPr lang="en-US" sz="1726" b="true">
                <a:solidFill>
                  <a:srgbClr val="78553F"/>
                </a:solidFill>
                <a:latin typeface="Canva Sans Bold"/>
                <a:ea typeface="Canva Sans Bold"/>
                <a:cs typeface="Canva Sans Bold"/>
                <a:sym typeface="Canva Sans Bold"/>
              </a:rPr>
              <a:t>('Menemen', 70.00, 1),</a:t>
            </a:r>
          </a:p>
          <a:p>
            <a:pPr algn="ctr">
              <a:lnSpc>
                <a:spcPts val="2417"/>
              </a:lnSpc>
            </a:pPr>
            <a:r>
              <a:rPr lang="en-US" sz="1726" b="true">
                <a:solidFill>
                  <a:srgbClr val="78553F"/>
                </a:solidFill>
                <a:latin typeface="Canva Sans Bold"/>
                <a:ea typeface="Canva Sans Bold"/>
                <a:cs typeface="Canva Sans Bold"/>
                <a:sym typeface="Canva Sans Bold"/>
              </a:rPr>
              <a:t>('Fried Egg', 60.00, 1),</a:t>
            </a:r>
          </a:p>
          <a:p>
            <a:pPr algn="ctr">
              <a:lnSpc>
                <a:spcPts val="2417"/>
              </a:lnSpc>
            </a:pPr>
            <a:r>
              <a:rPr lang="en-US" sz="1726" b="true">
                <a:solidFill>
                  <a:srgbClr val="78553F"/>
                </a:solidFill>
                <a:latin typeface="Canva Sans Bold"/>
                <a:ea typeface="Canva Sans Bold"/>
                <a:cs typeface="Canva Sans Bold"/>
                <a:sym typeface="Canva Sans Bold"/>
              </a:rPr>
              <a:t>('Toast', 90.00, 1),</a:t>
            </a:r>
          </a:p>
          <a:p>
            <a:pPr algn="ctr">
              <a:lnSpc>
                <a:spcPts val="2417"/>
              </a:lnSpc>
            </a:pPr>
            <a:r>
              <a:rPr lang="en-US" sz="1726" b="true">
                <a:solidFill>
                  <a:srgbClr val="78553F"/>
                </a:solidFill>
                <a:latin typeface="Canva Sans Bold"/>
                <a:ea typeface="Canva Sans Bold"/>
                <a:cs typeface="Canva Sans Bold"/>
                <a:sym typeface="Canva Sans Bold"/>
              </a:rPr>
              <a:t>('Sandwich ', 70.00, 1);</a:t>
            </a:r>
          </a:p>
          <a:p>
            <a:pPr algn="ctr">
              <a:lnSpc>
                <a:spcPts val="2417"/>
              </a:lnSpc>
            </a:pPr>
          </a:p>
          <a:p>
            <a:pPr algn="ctr">
              <a:lnSpc>
                <a:spcPts val="2417"/>
              </a:lnSpc>
            </a:pPr>
            <a:r>
              <a:rPr lang="en-US" sz="1726" b="true">
                <a:solidFill>
                  <a:srgbClr val="78553F"/>
                </a:solidFill>
                <a:latin typeface="Canva Sans Bold"/>
                <a:ea typeface="Canva Sans Bold"/>
                <a:cs typeface="Canva Sans Bold"/>
                <a:sym typeface="Canva Sans Bold"/>
              </a:rPr>
              <a:t>INSERT INTO products (name, price, category_id) VALUES </a:t>
            </a:r>
          </a:p>
          <a:p>
            <a:pPr algn="ctr">
              <a:lnSpc>
                <a:spcPts val="2417"/>
              </a:lnSpc>
            </a:pPr>
            <a:r>
              <a:rPr lang="en-US" sz="1726" b="true">
                <a:solidFill>
                  <a:srgbClr val="78553F"/>
                </a:solidFill>
                <a:latin typeface="Canva Sans Bold"/>
                <a:ea typeface="Canva Sans Bold"/>
                <a:cs typeface="Canva Sans Bold"/>
                <a:sym typeface="Canva Sans Bold"/>
              </a:rPr>
              <a:t>(‘ Bruschetta’, 60.00, 2),</a:t>
            </a:r>
          </a:p>
          <a:p>
            <a:pPr algn="ctr">
              <a:lnSpc>
                <a:spcPts val="2417"/>
              </a:lnSpc>
            </a:pPr>
            <a:r>
              <a:rPr lang="en-US" sz="1726" b="true">
                <a:solidFill>
                  <a:srgbClr val="78553F"/>
                </a:solidFill>
                <a:latin typeface="Canva Sans Bold"/>
                <a:ea typeface="Canva Sans Bold"/>
                <a:cs typeface="Canva Sans Bold"/>
                <a:sym typeface="Canva Sans Bold"/>
              </a:rPr>
              <a:t>('Mozzarella Stick', 75.00, 2),</a:t>
            </a:r>
          </a:p>
          <a:p>
            <a:pPr algn="ctr">
              <a:lnSpc>
                <a:spcPts val="2417"/>
              </a:lnSpc>
            </a:pPr>
            <a:r>
              <a:rPr lang="en-US" sz="1726" b="true">
                <a:solidFill>
                  <a:srgbClr val="78553F"/>
                </a:solidFill>
                <a:latin typeface="Canva Sans Bold"/>
                <a:ea typeface="Canva Sans Bold"/>
                <a:cs typeface="Canva Sans Bold"/>
                <a:sym typeface="Canva Sans Bold"/>
              </a:rPr>
              <a:t>(' Stuffed Mushrooms', 80.00, 2),</a:t>
            </a:r>
          </a:p>
          <a:p>
            <a:pPr algn="ctr">
              <a:lnSpc>
                <a:spcPts val="2417"/>
              </a:lnSpc>
            </a:pPr>
            <a:r>
              <a:rPr lang="en-US" sz="1726" b="true">
                <a:solidFill>
                  <a:srgbClr val="78553F"/>
                </a:solidFill>
                <a:latin typeface="Canva Sans Bold"/>
                <a:ea typeface="Canva Sans Bold"/>
                <a:cs typeface="Canva Sans Bold"/>
                <a:sym typeface="Canva Sans Bold"/>
              </a:rPr>
              <a:t>(' French Fries ', 55.00, 2),</a:t>
            </a:r>
          </a:p>
          <a:p>
            <a:pPr algn="ctr">
              <a:lnSpc>
                <a:spcPts val="2417"/>
              </a:lnSpc>
            </a:pPr>
            <a:r>
              <a:rPr lang="en-US" sz="1726" b="true">
                <a:solidFill>
                  <a:srgbClr val="78553F"/>
                </a:solidFill>
                <a:latin typeface="Canva Sans Bold"/>
                <a:ea typeface="Canva Sans Bold"/>
                <a:cs typeface="Canva Sans Bold"/>
                <a:sym typeface="Canva Sans Bold"/>
              </a:rPr>
              <a:t>(' Onion Rings', 42.00, 2);</a:t>
            </a:r>
          </a:p>
          <a:p>
            <a:pPr algn="ctr">
              <a:lnSpc>
                <a:spcPts val="2417"/>
              </a:lnSpc>
              <a:spcBef>
                <a:spcPct val="0"/>
              </a:spcBef>
            </a:pPr>
          </a:p>
        </p:txBody>
      </p:sp>
      <p:sp>
        <p:nvSpPr>
          <p:cNvPr name="TextBox 6" id="6"/>
          <p:cNvSpPr txBox="true"/>
          <p:nvPr/>
        </p:nvSpPr>
        <p:spPr>
          <a:xfrm rot="0">
            <a:off x="5814103" y="894566"/>
            <a:ext cx="6029381" cy="9184990"/>
          </a:xfrm>
          <a:prstGeom prst="rect">
            <a:avLst/>
          </a:prstGeom>
        </p:spPr>
        <p:txBody>
          <a:bodyPr anchor="t" rtlCol="false" tIns="0" lIns="0" bIns="0" rIns="0">
            <a:spAutoFit/>
          </a:bodyPr>
          <a:lstStyle/>
          <a:p>
            <a:pPr algn="ctr">
              <a:lnSpc>
                <a:spcPts val="1987"/>
              </a:lnSpc>
            </a:pPr>
          </a:p>
          <a:p>
            <a:pPr algn="ctr">
              <a:lnSpc>
                <a:spcPts val="1987"/>
              </a:lnSpc>
            </a:pPr>
          </a:p>
          <a:p>
            <a:pPr algn="ctr">
              <a:lnSpc>
                <a:spcPts val="1987"/>
              </a:lnSpc>
            </a:pPr>
          </a:p>
          <a:p>
            <a:pPr algn="ctr">
              <a:lnSpc>
                <a:spcPts val="2536"/>
              </a:lnSpc>
            </a:pPr>
            <a:r>
              <a:rPr lang="en-US" sz="1811" b="true">
                <a:solidFill>
                  <a:srgbClr val="78553F"/>
                </a:solidFill>
                <a:latin typeface="Canva Sans Bold"/>
                <a:ea typeface="Canva Sans Bold"/>
                <a:cs typeface="Canva Sans Bold"/>
                <a:sym typeface="Canva Sans Bold"/>
              </a:rPr>
              <a:t>INSERT INTO products (name, price, category_id) VALUES </a:t>
            </a:r>
          </a:p>
          <a:p>
            <a:pPr algn="ctr">
              <a:lnSpc>
                <a:spcPts val="2536"/>
              </a:lnSpc>
            </a:pPr>
            <a:r>
              <a:rPr lang="en-US" sz="1811" b="true">
                <a:solidFill>
                  <a:srgbClr val="78553F"/>
                </a:solidFill>
                <a:latin typeface="Canva Sans Bold"/>
                <a:ea typeface="Canva Sans Bold"/>
                <a:cs typeface="Canva Sans Bold"/>
                <a:sym typeface="Canva Sans Bold"/>
              </a:rPr>
              <a:t>(‘Tomato Soup ', 90.00, 3),</a:t>
            </a:r>
          </a:p>
          <a:p>
            <a:pPr algn="ctr">
              <a:lnSpc>
                <a:spcPts val="2536"/>
              </a:lnSpc>
            </a:pPr>
            <a:r>
              <a:rPr lang="en-US" sz="1811" b="true">
                <a:solidFill>
                  <a:srgbClr val="78553F"/>
                </a:solidFill>
                <a:latin typeface="Canva Sans Bold"/>
                <a:ea typeface="Canva Sans Bold"/>
                <a:cs typeface="Canva Sans Bold"/>
                <a:sym typeface="Canva Sans Bold"/>
              </a:rPr>
              <a:t>(' Lentil Soup’, 70.00, 3),</a:t>
            </a:r>
          </a:p>
          <a:p>
            <a:pPr algn="ctr">
              <a:lnSpc>
                <a:spcPts val="2536"/>
              </a:lnSpc>
            </a:pPr>
            <a:r>
              <a:rPr lang="en-US" sz="1811" b="true">
                <a:solidFill>
                  <a:srgbClr val="78553F"/>
                </a:solidFill>
                <a:latin typeface="Canva Sans Bold"/>
                <a:ea typeface="Canva Sans Bold"/>
                <a:cs typeface="Canva Sans Bold"/>
                <a:sym typeface="Canva Sans Bold"/>
              </a:rPr>
              <a:t>(' Tripe Soup’, 80.00, 3),</a:t>
            </a:r>
          </a:p>
          <a:p>
            <a:pPr algn="ctr">
              <a:lnSpc>
                <a:spcPts val="2536"/>
              </a:lnSpc>
            </a:pPr>
            <a:r>
              <a:rPr lang="en-US" sz="1811" b="true">
                <a:solidFill>
                  <a:srgbClr val="78553F"/>
                </a:solidFill>
                <a:latin typeface="Canva Sans Bold"/>
                <a:ea typeface="Canva Sans Bold"/>
                <a:cs typeface="Canva Sans Bold"/>
                <a:sym typeface="Canva Sans Bold"/>
              </a:rPr>
              <a:t>(' Chicken Broth’, 100.00, 3),</a:t>
            </a:r>
          </a:p>
          <a:p>
            <a:pPr algn="ctr">
              <a:lnSpc>
                <a:spcPts val="2536"/>
              </a:lnSpc>
            </a:pPr>
            <a:r>
              <a:rPr lang="en-US" sz="1811" b="true">
                <a:solidFill>
                  <a:srgbClr val="78553F"/>
                </a:solidFill>
                <a:latin typeface="Canva Sans Bold"/>
                <a:ea typeface="Canva Sans Bold"/>
                <a:cs typeface="Canva Sans Bold"/>
                <a:sym typeface="Canva Sans Bold"/>
              </a:rPr>
              <a:t>(' Vegetable Soup', 75.00, 3);</a:t>
            </a:r>
          </a:p>
          <a:p>
            <a:pPr algn="ctr">
              <a:lnSpc>
                <a:spcPts val="2536"/>
              </a:lnSpc>
            </a:pPr>
          </a:p>
          <a:p>
            <a:pPr algn="ctr">
              <a:lnSpc>
                <a:spcPts val="2536"/>
              </a:lnSpc>
            </a:pPr>
          </a:p>
          <a:p>
            <a:pPr algn="ctr">
              <a:lnSpc>
                <a:spcPts val="2536"/>
              </a:lnSpc>
            </a:pPr>
            <a:r>
              <a:rPr lang="en-US" sz="1811" b="true">
                <a:solidFill>
                  <a:srgbClr val="78553F"/>
                </a:solidFill>
                <a:latin typeface="Canva Sans Bold"/>
                <a:ea typeface="Canva Sans Bold"/>
                <a:cs typeface="Canva Sans Bold"/>
                <a:sym typeface="Canva Sans Bold"/>
              </a:rPr>
              <a:t>INSERT INTO products (name, price, category_id) VALUES </a:t>
            </a:r>
          </a:p>
          <a:p>
            <a:pPr algn="ctr">
              <a:lnSpc>
                <a:spcPts val="2536"/>
              </a:lnSpc>
            </a:pPr>
            <a:r>
              <a:rPr lang="en-US" sz="1811" b="true">
                <a:solidFill>
                  <a:srgbClr val="78553F"/>
                </a:solidFill>
                <a:latin typeface="Canva Sans Bold"/>
                <a:ea typeface="Canva Sans Bold"/>
                <a:cs typeface="Canva Sans Bold"/>
                <a:sym typeface="Canva Sans Bold"/>
              </a:rPr>
              <a:t>('Classic Hamburger', 390.00, 4),</a:t>
            </a:r>
          </a:p>
          <a:p>
            <a:pPr algn="ctr">
              <a:lnSpc>
                <a:spcPts val="2536"/>
              </a:lnSpc>
            </a:pPr>
            <a:r>
              <a:rPr lang="en-US" sz="1811" b="true">
                <a:solidFill>
                  <a:srgbClr val="78553F"/>
                </a:solidFill>
                <a:latin typeface="Canva Sans Bold"/>
                <a:ea typeface="Canva Sans Bold"/>
                <a:cs typeface="Canva Sans Bold"/>
                <a:sym typeface="Canva Sans Bold"/>
              </a:rPr>
              <a:t>('Cheeseburger', 400.00, 4),</a:t>
            </a:r>
          </a:p>
          <a:p>
            <a:pPr algn="ctr">
              <a:lnSpc>
                <a:spcPts val="2536"/>
              </a:lnSpc>
            </a:pPr>
            <a:r>
              <a:rPr lang="en-US" sz="1811" b="true">
                <a:solidFill>
                  <a:srgbClr val="78553F"/>
                </a:solidFill>
                <a:latin typeface="Canva Sans Bold"/>
                <a:ea typeface="Canva Sans Bold"/>
                <a:cs typeface="Canva Sans Bold"/>
                <a:sym typeface="Canva Sans Bold"/>
              </a:rPr>
              <a:t>('Double Burger', 500.00, 4),</a:t>
            </a:r>
          </a:p>
          <a:p>
            <a:pPr algn="ctr">
              <a:lnSpc>
                <a:spcPts val="2536"/>
              </a:lnSpc>
            </a:pPr>
            <a:r>
              <a:rPr lang="en-US" sz="1811" b="true">
                <a:solidFill>
                  <a:srgbClr val="78553F"/>
                </a:solidFill>
                <a:latin typeface="Canva Sans Bold"/>
                <a:ea typeface="Canva Sans Bold"/>
                <a:cs typeface="Canva Sans Bold"/>
                <a:sym typeface="Canva Sans Bold"/>
              </a:rPr>
              <a:t>('BBQ Burger', 490.00, 4),</a:t>
            </a:r>
          </a:p>
          <a:p>
            <a:pPr algn="ctr">
              <a:lnSpc>
                <a:spcPts val="2536"/>
              </a:lnSpc>
            </a:pPr>
            <a:r>
              <a:rPr lang="en-US" sz="1811" b="true">
                <a:solidFill>
                  <a:srgbClr val="78553F"/>
                </a:solidFill>
                <a:latin typeface="Canva Sans Bold"/>
                <a:ea typeface="Canva Sans Bold"/>
                <a:cs typeface="Canva Sans Bold"/>
                <a:sym typeface="Canva Sans Bold"/>
              </a:rPr>
              <a:t>('Veggie Burger', 350.00, 4);</a:t>
            </a:r>
          </a:p>
          <a:p>
            <a:pPr algn="ctr">
              <a:lnSpc>
                <a:spcPts val="2536"/>
              </a:lnSpc>
            </a:pPr>
          </a:p>
          <a:p>
            <a:pPr algn="ctr">
              <a:lnSpc>
                <a:spcPts val="2536"/>
              </a:lnSpc>
            </a:pPr>
          </a:p>
          <a:p>
            <a:pPr algn="ctr">
              <a:lnSpc>
                <a:spcPts val="2536"/>
              </a:lnSpc>
            </a:pPr>
            <a:r>
              <a:rPr lang="en-US" sz="1811" b="true">
                <a:solidFill>
                  <a:srgbClr val="78553F"/>
                </a:solidFill>
                <a:latin typeface="Canva Sans Bold"/>
                <a:ea typeface="Canva Sans Bold"/>
                <a:cs typeface="Canva Sans Bold"/>
                <a:sym typeface="Canva Sans Bold"/>
              </a:rPr>
              <a:t>INSERT INTO products (name, price, category_id) VALUES </a:t>
            </a:r>
          </a:p>
          <a:p>
            <a:pPr algn="ctr">
              <a:lnSpc>
                <a:spcPts val="2536"/>
              </a:lnSpc>
            </a:pPr>
            <a:r>
              <a:rPr lang="en-US" sz="1811" b="true">
                <a:solidFill>
                  <a:srgbClr val="78553F"/>
                </a:solidFill>
                <a:latin typeface="Canva Sans Bold"/>
                <a:ea typeface="Canva Sans Bold"/>
                <a:cs typeface="Canva Sans Bold"/>
                <a:sym typeface="Canva Sans Bold"/>
              </a:rPr>
              <a:t>('Margherita Pizza', 290.00, 5),</a:t>
            </a:r>
          </a:p>
          <a:p>
            <a:pPr algn="ctr">
              <a:lnSpc>
                <a:spcPts val="2536"/>
              </a:lnSpc>
            </a:pPr>
            <a:r>
              <a:rPr lang="en-US" sz="1811" b="true">
                <a:solidFill>
                  <a:srgbClr val="78553F"/>
                </a:solidFill>
                <a:latin typeface="Canva Sans Bold"/>
                <a:ea typeface="Canva Sans Bold"/>
                <a:cs typeface="Canva Sans Bold"/>
                <a:sym typeface="Canva Sans Bold"/>
              </a:rPr>
              <a:t>('Pepperoni Pizza', 350.00, 5),</a:t>
            </a:r>
          </a:p>
          <a:p>
            <a:pPr algn="ctr">
              <a:lnSpc>
                <a:spcPts val="2536"/>
              </a:lnSpc>
            </a:pPr>
            <a:r>
              <a:rPr lang="en-US" sz="1811" b="true">
                <a:solidFill>
                  <a:srgbClr val="78553F"/>
                </a:solidFill>
                <a:latin typeface="Canva Sans Bold"/>
                <a:ea typeface="Canva Sans Bold"/>
                <a:cs typeface="Canva Sans Bold"/>
                <a:sym typeface="Canva Sans Bold"/>
              </a:rPr>
              <a:t>('Four Cheese Pizza', 320.00, 5),</a:t>
            </a:r>
          </a:p>
          <a:p>
            <a:pPr algn="ctr">
              <a:lnSpc>
                <a:spcPts val="2536"/>
              </a:lnSpc>
            </a:pPr>
            <a:r>
              <a:rPr lang="en-US" sz="1811" b="true">
                <a:solidFill>
                  <a:srgbClr val="78553F"/>
                </a:solidFill>
                <a:latin typeface="Canva Sans Bold"/>
                <a:ea typeface="Canva Sans Bold"/>
                <a:cs typeface="Canva Sans Bold"/>
                <a:sym typeface="Canva Sans Bold"/>
              </a:rPr>
              <a:t>('Mixed Pizza', 400.00, 5),</a:t>
            </a:r>
          </a:p>
          <a:p>
            <a:pPr algn="ctr">
              <a:lnSpc>
                <a:spcPts val="2536"/>
              </a:lnSpc>
            </a:pPr>
            <a:r>
              <a:rPr lang="en-US" sz="1811" b="true">
                <a:solidFill>
                  <a:srgbClr val="78553F"/>
                </a:solidFill>
                <a:latin typeface="Canva Sans Bold"/>
                <a:ea typeface="Canva Sans Bold"/>
                <a:cs typeface="Canva Sans Bold"/>
                <a:sym typeface="Canva Sans Bold"/>
              </a:rPr>
              <a:t>('Vegetarian Pizza',290.00, 5);</a:t>
            </a:r>
          </a:p>
          <a:p>
            <a:pPr algn="ctr">
              <a:lnSpc>
                <a:spcPts val="1987"/>
              </a:lnSpc>
            </a:pPr>
          </a:p>
          <a:p>
            <a:pPr algn="ctr">
              <a:lnSpc>
                <a:spcPts val="1987"/>
              </a:lnSpc>
              <a:spcBef>
                <a:spcPct val="0"/>
              </a:spcBef>
            </a:pPr>
          </a:p>
        </p:txBody>
      </p:sp>
      <p:sp>
        <p:nvSpPr>
          <p:cNvPr name="TextBox 7" id="7"/>
          <p:cNvSpPr txBox="true"/>
          <p:nvPr/>
        </p:nvSpPr>
        <p:spPr>
          <a:xfrm rot="0">
            <a:off x="12072084" y="875516"/>
            <a:ext cx="5902512" cy="9357314"/>
          </a:xfrm>
          <a:prstGeom prst="rect">
            <a:avLst/>
          </a:prstGeom>
        </p:spPr>
        <p:txBody>
          <a:bodyPr anchor="t" rtlCol="false" tIns="0" lIns="0" bIns="0" rIns="0">
            <a:spAutoFit/>
          </a:bodyPr>
          <a:lstStyle/>
          <a:p>
            <a:pPr algn="ctr">
              <a:lnSpc>
                <a:spcPts val="2319"/>
              </a:lnSpc>
            </a:pPr>
            <a:r>
              <a:rPr lang="en-US" sz="1656" b="true">
                <a:solidFill>
                  <a:srgbClr val="78553F"/>
                </a:solidFill>
                <a:latin typeface="Canva Sans Bold"/>
                <a:ea typeface="Canva Sans Bold"/>
                <a:cs typeface="Canva Sans Bold"/>
                <a:sym typeface="Canva Sans Bold"/>
              </a:rPr>
              <a:t>INSERT INTO products (name, price, category_id) VALUES </a:t>
            </a:r>
          </a:p>
          <a:p>
            <a:pPr algn="ctr">
              <a:lnSpc>
                <a:spcPts val="2319"/>
              </a:lnSpc>
            </a:pPr>
            <a:r>
              <a:rPr lang="en-US" sz="1656" b="true">
                <a:solidFill>
                  <a:srgbClr val="78553F"/>
                </a:solidFill>
                <a:latin typeface="Canva Sans Bold"/>
                <a:ea typeface="Canva Sans Bold"/>
                <a:cs typeface="Canva Sans Bold"/>
                <a:sym typeface="Canva Sans Bold"/>
              </a:rPr>
              <a:t>('Spaghetti Bolognese', 190.00, 6),</a:t>
            </a:r>
          </a:p>
          <a:p>
            <a:pPr algn="ctr">
              <a:lnSpc>
                <a:spcPts val="2319"/>
              </a:lnSpc>
            </a:pPr>
            <a:r>
              <a:rPr lang="en-US" sz="1656" b="true">
                <a:solidFill>
                  <a:srgbClr val="78553F"/>
                </a:solidFill>
                <a:latin typeface="Canva Sans Bold"/>
                <a:ea typeface="Canva Sans Bold"/>
                <a:cs typeface="Canva Sans Bold"/>
                <a:sym typeface="Canva Sans Bold"/>
              </a:rPr>
              <a:t>('Fettucine Alfredo', 180.00, 6),</a:t>
            </a:r>
          </a:p>
          <a:p>
            <a:pPr algn="ctr">
              <a:lnSpc>
                <a:spcPts val="2319"/>
              </a:lnSpc>
            </a:pPr>
            <a:r>
              <a:rPr lang="en-US" sz="1656" b="true">
                <a:solidFill>
                  <a:srgbClr val="78553F"/>
                </a:solidFill>
                <a:latin typeface="Canva Sans Bold"/>
                <a:ea typeface="Canva Sans Bold"/>
                <a:cs typeface="Canva Sans Bold"/>
                <a:sym typeface="Canva Sans Bold"/>
              </a:rPr>
              <a:t>('Penne Arabiata', 170.00, 6),</a:t>
            </a:r>
          </a:p>
          <a:p>
            <a:pPr algn="ctr">
              <a:lnSpc>
                <a:spcPts val="2319"/>
              </a:lnSpc>
            </a:pPr>
            <a:r>
              <a:rPr lang="en-US" sz="1656" b="true">
                <a:solidFill>
                  <a:srgbClr val="78553F"/>
                </a:solidFill>
                <a:latin typeface="Canva Sans Bold"/>
                <a:ea typeface="Canva Sans Bold"/>
                <a:cs typeface="Canva Sans Bold"/>
                <a:sym typeface="Canva Sans Bold"/>
              </a:rPr>
              <a:t>('Lasagne', 285.00, 6),</a:t>
            </a:r>
          </a:p>
          <a:p>
            <a:pPr algn="ctr">
              <a:lnSpc>
                <a:spcPts val="2319"/>
              </a:lnSpc>
            </a:pPr>
            <a:r>
              <a:rPr lang="en-US" sz="1656" b="true">
                <a:solidFill>
                  <a:srgbClr val="78553F"/>
                </a:solidFill>
                <a:latin typeface="Canva Sans Bold"/>
                <a:ea typeface="Canva Sans Bold"/>
                <a:cs typeface="Canva Sans Bold"/>
                <a:sym typeface="Canva Sans Bold"/>
              </a:rPr>
              <a:t>('Napolitan Pasta, 170.00, 6);</a:t>
            </a:r>
          </a:p>
          <a:p>
            <a:pPr algn="ctr">
              <a:lnSpc>
                <a:spcPts val="2319"/>
              </a:lnSpc>
            </a:pPr>
          </a:p>
          <a:p>
            <a:pPr algn="ctr">
              <a:lnSpc>
                <a:spcPts val="2319"/>
              </a:lnSpc>
            </a:pPr>
          </a:p>
          <a:p>
            <a:pPr algn="ctr">
              <a:lnSpc>
                <a:spcPts val="2319"/>
              </a:lnSpc>
            </a:pPr>
            <a:r>
              <a:rPr lang="en-US" sz="1656" b="true">
                <a:solidFill>
                  <a:srgbClr val="78553F"/>
                </a:solidFill>
                <a:latin typeface="Canva Sans Bold"/>
                <a:ea typeface="Canva Sans Bold"/>
                <a:cs typeface="Canva Sans Bold"/>
                <a:sym typeface="Canva Sans Bold"/>
              </a:rPr>
              <a:t>INSERT INTO products (name, price, category_id) VALUES </a:t>
            </a:r>
          </a:p>
          <a:p>
            <a:pPr algn="ctr">
              <a:lnSpc>
                <a:spcPts val="2319"/>
              </a:lnSpc>
            </a:pPr>
            <a:r>
              <a:rPr lang="en-US" sz="1656" b="true">
                <a:solidFill>
                  <a:srgbClr val="78553F"/>
                </a:solidFill>
                <a:latin typeface="Canva Sans Bold"/>
                <a:ea typeface="Canva Sans Bold"/>
                <a:cs typeface="Canva Sans Bold"/>
                <a:sym typeface="Canva Sans Bold"/>
              </a:rPr>
              <a:t>('Grilled Chicken', 275.00, 7),</a:t>
            </a:r>
          </a:p>
          <a:p>
            <a:pPr algn="ctr">
              <a:lnSpc>
                <a:spcPts val="2319"/>
              </a:lnSpc>
            </a:pPr>
            <a:r>
              <a:rPr lang="en-US" sz="1656" b="true">
                <a:solidFill>
                  <a:srgbClr val="78553F"/>
                </a:solidFill>
                <a:latin typeface="Canva Sans Bold"/>
                <a:ea typeface="Canva Sans Bold"/>
                <a:cs typeface="Canva Sans Bold"/>
                <a:sym typeface="Canva Sans Bold"/>
              </a:rPr>
              <a:t>('Breaded Chicken', 170.00, 7),</a:t>
            </a:r>
          </a:p>
          <a:p>
            <a:pPr algn="ctr">
              <a:lnSpc>
                <a:spcPts val="2319"/>
              </a:lnSpc>
            </a:pPr>
            <a:r>
              <a:rPr lang="en-US" sz="1656" b="true">
                <a:solidFill>
                  <a:srgbClr val="78553F"/>
                </a:solidFill>
                <a:latin typeface="Canva Sans Bold"/>
                <a:ea typeface="Canva Sans Bold"/>
                <a:cs typeface="Canva Sans Bold"/>
                <a:sym typeface="Canva Sans Bold"/>
              </a:rPr>
              <a:t>('Buffalo Wings', 168.00, 7),</a:t>
            </a:r>
          </a:p>
          <a:p>
            <a:pPr algn="ctr">
              <a:lnSpc>
                <a:spcPts val="2319"/>
              </a:lnSpc>
            </a:pPr>
            <a:r>
              <a:rPr lang="en-US" sz="1656" b="true">
                <a:solidFill>
                  <a:srgbClr val="78553F"/>
                </a:solidFill>
                <a:latin typeface="Canva Sans Bold"/>
                <a:ea typeface="Canva Sans Bold"/>
                <a:cs typeface="Canva Sans Bold"/>
                <a:sym typeface="Canva Sans Bold"/>
              </a:rPr>
              <a:t>('Chicken Schnitzel', 172.00, 7),</a:t>
            </a:r>
          </a:p>
          <a:p>
            <a:pPr algn="ctr">
              <a:lnSpc>
                <a:spcPts val="2319"/>
              </a:lnSpc>
            </a:pPr>
            <a:r>
              <a:rPr lang="en-US" sz="1656" b="true">
                <a:solidFill>
                  <a:srgbClr val="78553F"/>
                </a:solidFill>
                <a:latin typeface="Canva Sans Bold"/>
                <a:ea typeface="Canva Sans Bold"/>
                <a:cs typeface="Canva Sans Bold"/>
                <a:sym typeface="Canva Sans Bold"/>
              </a:rPr>
              <a:t>('Chicken Wrap', 165.00, 7);</a:t>
            </a:r>
          </a:p>
          <a:p>
            <a:pPr algn="ctr">
              <a:lnSpc>
                <a:spcPts val="2319"/>
              </a:lnSpc>
            </a:pPr>
          </a:p>
          <a:p>
            <a:pPr algn="ctr">
              <a:lnSpc>
                <a:spcPts val="2319"/>
              </a:lnSpc>
            </a:pPr>
          </a:p>
          <a:p>
            <a:pPr algn="ctr">
              <a:lnSpc>
                <a:spcPts val="2319"/>
              </a:lnSpc>
            </a:pPr>
            <a:r>
              <a:rPr lang="en-US" sz="1656" b="true">
                <a:solidFill>
                  <a:srgbClr val="78553F"/>
                </a:solidFill>
                <a:latin typeface="Canva Sans Bold"/>
                <a:ea typeface="Canva Sans Bold"/>
                <a:cs typeface="Canva Sans Bold"/>
                <a:sym typeface="Canva Sans Bold"/>
              </a:rPr>
              <a:t>INSERT INTO products (name, price, category_id) VALUES </a:t>
            </a:r>
          </a:p>
          <a:p>
            <a:pPr algn="ctr">
              <a:lnSpc>
                <a:spcPts val="2319"/>
              </a:lnSpc>
            </a:pPr>
            <a:r>
              <a:rPr lang="en-US" sz="1656" b="true">
                <a:solidFill>
                  <a:srgbClr val="78553F"/>
                </a:solidFill>
                <a:latin typeface="Canva Sans Bold"/>
                <a:ea typeface="Canva Sans Bold"/>
                <a:cs typeface="Canva Sans Bold"/>
                <a:sym typeface="Canva Sans Bold"/>
              </a:rPr>
              <a:t>('Caesar Salad', 150.00, 8),</a:t>
            </a:r>
          </a:p>
          <a:p>
            <a:pPr algn="ctr">
              <a:lnSpc>
                <a:spcPts val="2319"/>
              </a:lnSpc>
            </a:pPr>
            <a:r>
              <a:rPr lang="en-US" sz="1656" b="true">
                <a:solidFill>
                  <a:srgbClr val="78553F"/>
                </a:solidFill>
                <a:latin typeface="Canva Sans Bold"/>
                <a:ea typeface="Canva Sans Bold"/>
                <a:cs typeface="Canva Sans Bold"/>
                <a:sym typeface="Canva Sans Bold"/>
              </a:rPr>
              <a:t>('Tuna Salad', 200.00, 8),</a:t>
            </a:r>
          </a:p>
          <a:p>
            <a:pPr algn="ctr">
              <a:lnSpc>
                <a:spcPts val="2319"/>
              </a:lnSpc>
            </a:pPr>
            <a:r>
              <a:rPr lang="en-US" sz="1656" b="true">
                <a:solidFill>
                  <a:srgbClr val="78553F"/>
                </a:solidFill>
                <a:latin typeface="Canva Sans Bold"/>
                <a:ea typeface="Canva Sans Bold"/>
                <a:cs typeface="Canva Sans Bold"/>
                <a:sym typeface="Canva Sans Bold"/>
              </a:rPr>
              <a:t>('Mediterranean Salad', 148.00, 8),</a:t>
            </a:r>
          </a:p>
          <a:p>
            <a:pPr algn="ctr">
              <a:lnSpc>
                <a:spcPts val="2319"/>
              </a:lnSpc>
            </a:pPr>
            <a:r>
              <a:rPr lang="en-US" sz="1656" b="true">
                <a:solidFill>
                  <a:srgbClr val="78553F"/>
                </a:solidFill>
                <a:latin typeface="Canva Sans Bold"/>
                <a:ea typeface="Canva Sans Bold"/>
                <a:cs typeface="Canva Sans Bold"/>
                <a:sym typeface="Canva Sans Bold"/>
              </a:rPr>
              <a:t>('Chicken Salad', 155.00, 8),</a:t>
            </a:r>
          </a:p>
          <a:p>
            <a:pPr algn="ctr">
              <a:lnSpc>
                <a:spcPts val="2319"/>
              </a:lnSpc>
            </a:pPr>
            <a:r>
              <a:rPr lang="en-US" sz="1656" b="true">
                <a:solidFill>
                  <a:srgbClr val="78553F"/>
                </a:solidFill>
                <a:latin typeface="Canva Sans Bold"/>
                <a:ea typeface="Canva Sans Bold"/>
                <a:cs typeface="Canva Sans Bold"/>
                <a:sym typeface="Canva Sans Bold"/>
              </a:rPr>
              <a:t>('Quinoa Salad', 153.00, 8);</a:t>
            </a:r>
          </a:p>
          <a:p>
            <a:pPr algn="ctr">
              <a:lnSpc>
                <a:spcPts val="2319"/>
              </a:lnSpc>
            </a:pPr>
          </a:p>
          <a:p>
            <a:pPr algn="ctr">
              <a:lnSpc>
                <a:spcPts val="2319"/>
              </a:lnSpc>
            </a:pPr>
            <a:r>
              <a:rPr lang="en-US" sz="1656" b="true">
                <a:solidFill>
                  <a:srgbClr val="78553F"/>
                </a:solidFill>
                <a:latin typeface="Canva Sans Bold"/>
                <a:ea typeface="Canva Sans Bold"/>
                <a:cs typeface="Canva Sans Bold"/>
                <a:sym typeface="Canva Sans Bold"/>
              </a:rPr>
              <a:t>INSERT INTO products (name, price, category_id) VALUES </a:t>
            </a:r>
          </a:p>
          <a:p>
            <a:pPr algn="ctr">
              <a:lnSpc>
                <a:spcPts val="2319"/>
              </a:lnSpc>
            </a:pPr>
            <a:r>
              <a:rPr lang="en-US" sz="1656" b="true">
                <a:solidFill>
                  <a:srgbClr val="78553F"/>
                </a:solidFill>
                <a:latin typeface="Canva Sans Bold"/>
                <a:ea typeface="Canva Sans Bold"/>
                <a:cs typeface="Canva Sans Bold"/>
                <a:sym typeface="Canva Sans Bold"/>
              </a:rPr>
              <a:t>('Cheesecake', 245.00, 9),</a:t>
            </a:r>
          </a:p>
          <a:p>
            <a:pPr algn="ctr">
              <a:lnSpc>
                <a:spcPts val="2319"/>
              </a:lnSpc>
            </a:pPr>
            <a:r>
              <a:rPr lang="en-US" sz="1656" b="true">
                <a:solidFill>
                  <a:srgbClr val="78553F"/>
                </a:solidFill>
                <a:latin typeface="Canva Sans Bold"/>
                <a:ea typeface="Canva Sans Bold"/>
                <a:cs typeface="Canva Sans Bold"/>
                <a:sym typeface="Canva Sans Bold"/>
              </a:rPr>
              <a:t>('Tiramisu', 150.00, 9),</a:t>
            </a:r>
          </a:p>
          <a:p>
            <a:pPr algn="ctr">
              <a:lnSpc>
                <a:spcPts val="2319"/>
              </a:lnSpc>
            </a:pPr>
            <a:r>
              <a:rPr lang="en-US" sz="1656" b="true">
                <a:solidFill>
                  <a:srgbClr val="78553F"/>
                </a:solidFill>
                <a:latin typeface="Canva Sans Bold"/>
                <a:ea typeface="Canva Sans Bold"/>
                <a:cs typeface="Canva Sans Bold"/>
                <a:sym typeface="Canva Sans Bold"/>
              </a:rPr>
              <a:t>('Chocolate Souffle', 148.00, 9),</a:t>
            </a:r>
          </a:p>
          <a:p>
            <a:pPr algn="ctr">
              <a:lnSpc>
                <a:spcPts val="2319"/>
              </a:lnSpc>
            </a:pPr>
            <a:r>
              <a:rPr lang="en-US" sz="1656" b="true">
                <a:solidFill>
                  <a:srgbClr val="78553F"/>
                </a:solidFill>
                <a:latin typeface="Canva Sans Bold"/>
                <a:ea typeface="Canva Sans Bold"/>
                <a:cs typeface="Canva Sans Bold"/>
                <a:sym typeface="Canva Sans Bold"/>
              </a:rPr>
              <a:t>('Brownie’, 238.00, 9),</a:t>
            </a:r>
          </a:p>
          <a:p>
            <a:pPr algn="ctr">
              <a:lnSpc>
                <a:spcPts val="2319"/>
              </a:lnSpc>
            </a:pPr>
            <a:r>
              <a:rPr lang="en-US" sz="1656" b="true">
                <a:solidFill>
                  <a:srgbClr val="78553F"/>
                </a:solidFill>
                <a:latin typeface="Canva Sans Bold"/>
                <a:ea typeface="Canva Sans Bold"/>
                <a:cs typeface="Canva Sans Bold"/>
                <a:sym typeface="Canva Sans Bold"/>
              </a:rPr>
              <a:t>('Magnolia Pudding’, 142.00, 9); </a:t>
            </a:r>
          </a:p>
          <a:p>
            <a:pPr algn="ctr">
              <a:lnSpc>
                <a:spcPts val="1610"/>
              </a:lnSpc>
            </a:pPr>
          </a:p>
          <a:p>
            <a:pPr algn="ctr">
              <a:lnSpc>
                <a:spcPts val="1610"/>
              </a:lnSpc>
            </a:pPr>
          </a:p>
          <a:p>
            <a:pPr algn="ctr">
              <a:lnSpc>
                <a:spcPts val="1610"/>
              </a:lnSpc>
            </a:pPr>
          </a:p>
          <a:p>
            <a:pPr algn="ctr">
              <a:lnSpc>
                <a:spcPts val="1610"/>
              </a:lnSpc>
            </a:pPr>
          </a:p>
          <a:p>
            <a:pPr algn="ctr">
              <a:lnSpc>
                <a:spcPts val="1610"/>
              </a:lnSpc>
              <a:spcBef>
                <a:spcPct val="0"/>
              </a:spcBef>
            </a:pPr>
          </a:p>
        </p:txBody>
      </p:sp>
      <p:sp>
        <p:nvSpPr>
          <p:cNvPr name="TextBox 8" id="8"/>
          <p:cNvSpPr txBox="true"/>
          <p:nvPr/>
        </p:nvSpPr>
        <p:spPr>
          <a:xfrm rot="0">
            <a:off x="970638" y="405764"/>
            <a:ext cx="3648364" cy="622936"/>
          </a:xfrm>
          <a:prstGeom prst="rect">
            <a:avLst/>
          </a:prstGeom>
        </p:spPr>
        <p:txBody>
          <a:bodyPr anchor="t" rtlCol="false" tIns="0" lIns="0" bIns="0" rIns="0">
            <a:spAutoFit/>
          </a:bodyPr>
          <a:lstStyle/>
          <a:p>
            <a:pPr algn="ctr">
              <a:lnSpc>
                <a:spcPts val="5039"/>
              </a:lnSpc>
              <a:spcBef>
                <a:spcPct val="0"/>
              </a:spcBef>
            </a:pPr>
            <a:r>
              <a:rPr lang="en-US" sz="3599">
                <a:solidFill>
                  <a:srgbClr val="512615"/>
                </a:solidFill>
                <a:latin typeface="Norwester"/>
                <a:ea typeface="Norwester"/>
                <a:cs typeface="Norwester"/>
                <a:sym typeface="Norwester"/>
              </a:rPr>
              <a:t>INSERT INTO:</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CEE"/>
        </a:solidFill>
      </p:bgPr>
    </p:bg>
    <p:spTree>
      <p:nvGrpSpPr>
        <p:cNvPr id="1" name=""/>
        <p:cNvGrpSpPr/>
        <p:nvPr/>
      </p:nvGrpSpPr>
      <p:grpSpPr>
        <a:xfrm>
          <a:off x="0" y="0"/>
          <a:ext cx="0" cy="0"/>
          <a:chOff x="0" y="0"/>
          <a:chExt cx="0" cy="0"/>
        </a:xfrm>
      </p:grpSpPr>
      <p:sp>
        <p:nvSpPr>
          <p:cNvPr name="TextBox 2" id="2"/>
          <p:cNvSpPr txBox="true"/>
          <p:nvPr/>
        </p:nvSpPr>
        <p:spPr>
          <a:xfrm rot="0">
            <a:off x="375250" y="645352"/>
            <a:ext cx="8405616" cy="4498148"/>
          </a:xfrm>
          <a:prstGeom prst="rect">
            <a:avLst/>
          </a:prstGeom>
        </p:spPr>
        <p:txBody>
          <a:bodyPr anchor="t" rtlCol="false" tIns="0" lIns="0" bIns="0" rIns="0">
            <a:spAutoFit/>
          </a:bodyPr>
          <a:lstStyle/>
          <a:p>
            <a:pPr algn="ctr">
              <a:lnSpc>
                <a:spcPts val="2775"/>
              </a:lnSpc>
            </a:pPr>
            <a:r>
              <a:rPr lang="en-US" sz="1982" b="true">
                <a:solidFill>
                  <a:srgbClr val="78553F"/>
                </a:solidFill>
                <a:latin typeface="Canva Sans Bold"/>
                <a:ea typeface="Canva Sans Bold"/>
                <a:cs typeface="Canva Sans Bold"/>
                <a:sym typeface="Canva Sans Bold"/>
              </a:rPr>
              <a:t>INSERT INTO customers (username, email, phone_number, password) VALUES </a:t>
            </a:r>
          </a:p>
          <a:p>
            <a:pPr algn="ctr">
              <a:lnSpc>
                <a:spcPts val="2775"/>
              </a:lnSpc>
            </a:pPr>
            <a:r>
              <a:rPr lang="en-US" sz="1982" b="true">
                <a:solidFill>
                  <a:srgbClr val="78553F"/>
                </a:solidFill>
                <a:latin typeface="Canva Sans Bold"/>
                <a:ea typeface="Canva Sans Bold"/>
                <a:cs typeface="Canva Sans Bold"/>
                <a:sym typeface="Canva Sans Bold"/>
              </a:rPr>
              <a:t>('ethan22', 'ethan@gmail.com', '5553216547', 'password123'),</a:t>
            </a:r>
          </a:p>
          <a:p>
            <a:pPr algn="ctr">
              <a:lnSpc>
                <a:spcPts val="2775"/>
              </a:lnSpc>
            </a:pPr>
            <a:r>
              <a:rPr lang="en-US" sz="1982" b="true">
                <a:solidFill>
                  <a:srgbClr val="78553F"/>
                </a:solidFill>
                <a:latin typeface="Canva Sans Bold"/>
                <a:ea typeface="Canva Sans Bold"/>
                <a:cs typeface="Canva Sans Bold"/>
                <a:sym typeface="Canva Sans Bold"/>
              </a:rPr>
              <a:t>('sophia47', 'sophia@gmail.com', '5554327658', 'mypassword456'),</a:t>
            </a:r>
          </a:p>
          <a:p>
            <a:pPr algn="ctr">
              <a:lnSpc>
                <a:spcPts val="2775"/>
              </a:lnSpc>
            </a:pPr>
            <a:r>
              <a:rPr lang="en-US" sz="1982" b="true">
                <a:solidFill>
                  <a:srgbClr val="78553F"/>
                </a:solidFill>
                <a:latin typeface="Canva Sans Bold"/>
                <a:ea typeface="Canva Sans Bold"/>
                <a:cs typeface="Canva Sans Bold"/>
                <a:sym typeface="Canva Sans Bold"/>
              </a:rPr>
              <a:t>('noah58', 'noah@gmail.com', '5555438769', 'secure789'),</a:t>
            </a:r>
          </a:p>
          <a:p>
            <a:pPr algn="ctr">
              <a:lnSpc>
                <a:spcPts val="2775"/>
              </a:lnSpc>
            </a:pPr>
            <a:r>
              <a:rPr lang="en-US" sz="1982" b="true">
                <a:solidFill>
                  <a:srgbClr val="78553F"/>
                </a:solidFill>
                <a:latin typeface="Canva Sans Bold"/>
                <a:ea typeface="Canva Sans Bold"/>
                <a:cs typeface="Canva Sans Bold"/>
                <a:sym typeface="Canva Sans Bold"/>
              </a:rPr>
              <a:t>('harper99', 'harper@gmail.com', '5556549870', 'pass1234'),</a:t>
            </a:r>
          </a:p>
          <a:p>
            <a:pPr algn="ctr">
              <a:lnSpc>
                <a:spcPts val="2775"/>
              </a:lnSpc>
            </a:pPr>
            <a:r>
              <a:rPr lang="en-US" sz="1982" b="true">
                <a:solidFill>
                  <a:srgbClr val="78553F"/>
                </a:solidFill>
                <a:latin typeface="Canva Sans Bold"/>
                <a:ea typeface="Canva Sans Bold"/>
                <a:cs typeface="Canva Sans Bold"/>
                <a:sym typeface="Canva Sans Bold"/>
              </a:rPr>
              <a:t>('jaxon11', 'jaxon@gmail.com', '5557650981', 'jpassword567'),</a:t>
            </a:r>
          </a:p>
          <a:p>
            <a:pPr algn="ctr">
              <a:lnSpc>
                <a:spcPts val="2775"/>
              </a:lnSpc>
            </a:pPr>
            <a:r>
              <a:rPr lang="en-US" sz="1982" b="true">
                <a:solidFill>
                  <a:srgbClr val="78553F"/>
                </a:solidFill>
                <a:latin typeface="Canva Sans Bold"/>
                <a:ea typeface="Canva Sans Bold"/>
                <a:cs typeface="Canva Sans Bold"/>
                <a:sym typeface="Canva Sans Bold"/>
              </a:rPr>
              <a:t>('avery15', 'avery@gmail.com', '5558762092', 'averypassword678'),</a:t>
            </a:r>
          </a:p>
          <a:p>
            <a:pPr algn="ctr">
              <a:lnSpc>
                <a:spcPts val="2775"/>
              </a:lnSpc>
            </a:pPr>
            <a:r>
              <a:rPr lang="en-US" sz="1982" b="true">
                <a:solidFill>
                  <a:srgbClr val="78553F"/>
                </a:solidFill>
                <a:latin typeface="Canva Sans Bold"/>
                <a:ea typeface="Canva Sans Bold"/>
                <a:cs typeface="Canva Sans Bold"/>
                <a:sym typeface="Canva Sans Bold"/>
              </a:rPr>
              <a:t>('mila22', 'mila@example.com', '5554562310', 'milapassword890'),</a:t>
            </a:r>
          </a:p>
          <a:p>
            <a:pPr algn="ctr">
              <a:lnSpc>
                <a:spcPts val="2775"/>
              </a:lnSpc>
            </a:pPr>
            <a:r>
              <a:rPr lang="en-US" sz="1982" b="true">
                <a:solidFill>
                  <a:srgbClr val="78553F"/>
                </a:solidFill>
                <a:latin typeface="Canva Sans Bold"/>
                <a:ea typeface="Canva Sans Bold"/>
                <a:cs typeface="Canva Sans Bold"/>
                <a:sym typeface="Canva Sans Bold"/>
              </a:rPr>
              <a:t>('zoe66', 'zoe@gmail.com', '5552340198', 'zoepassword234'),</a:t>
            </a:r>
          </a:p>
          <a:p>
            <a:pPr algn="ctr">
              <a:lnSpc>
                <a:spcPts val="2775"/>
              </a:lnSpc>
            </a:pPr>
            <a:r>
              <a:rPr lang="en-US" sz="1982" b="true">
                <a:solidFill>
                  <a:srgbClr val="78553F"/>
                </a:solidFill>
                <a:latin typeface="Canva Sans Bold"/>
                <a:ea typeface="Canva Sans Bold"/>
                <a:cs typeface="Canva Sans Bold"/>
                <a:sym typeface="Canva Sans Bold"/>
              </a:rPr>
              <a:t>('luca89', 'luca@gmail.com', '5553451209', 'lucapassword567'),</a:t>
            </a:r>
          </a:p>
          <a:p>
            <a:pPr algn="ctr">
              <a:lnSpc>
                <a:spcPts val="2775"/>
              </a:lnSpc>
            </a:pPr>
            <a:r>
              <a:rPr lang="en-US" sz="1982" b="true">
                <a:solidFill>
                  <a:srgbClr val="78553F"/>
                </a:solidFill>
                <a:latin typeface="Canva Sans Bold"/>
                <a:ea typeface="Canva Sans Bold"/>
                <a:cs typeface="Canva Sans Bold"/>
                <a:sym typeface="Canva Sans Bold"/>
              </a:rPr>
              <a:t>('dylan32', 'dylan@gmail.com', '5559873203', 'dylan1234');</a:t>
            </a:r>
          </a:p>
          <a:p>
            <a:pPr algn="ctr">
              <a:lnSpc>
                <a:spcPts val="2215"/>
              </a:lnSpc>
              <a:spcBef>
                <a:spcPct val="0"/>
              </a:spcBef>
            </a:pPr>
          </a:p>
        </p:txBody>
      </p:sp>
      <p:sp>
        <p:nvSpPr>
          <p:cNvPr name="TextBox 3" id="3"/>
          <p:cNvSpPr txBox="true"/>
          <p:nvPr/>
        </p:nvSpPr>
        <p:spPr>
          <a:xfrm rot="0">
            <a:off x="9144000" y="434679"/>
            <a:ext cx="8652561" cy="9034566"/>
          </a:xfrm>
          <a:prstGeom prst="rect">
            <a:avLst/>
          </a:prstGeom>
        </p:spPr>
        <p:txBody>
          <a:bodyPr anchor="t" rtlCol="false" tIns="0" lIns="0" bIns="0" rIns="0">
            <a:spAutoFit/>
          </a:bodyPr>
          <a:lstStyle/>
          <a:p>
            <a:pPr algn="ctr">
              <a:lnSpc>
                <a:spcPts val="2881"/>
              </a:lnSpc>
            </a:pPr>
            <a:r>
              <a:rPr lang="en-US" sz="2058" b="true">
                <a:solidFill>
                  <a:srgbClr val="78553F"/>
                </a:solidFill>
                <a:latin typeface="Canva Sans Bold"/>
                <a:ea typeface="Canva Sans Bold"/>
                <a:cs typeface="Canva Sans Bold"/>
                <a:sym typeface="Canva Sans Bold"/>
              </a:rPr>
              <a:t>INSERT INTO staff (name, position, email, wage) VALUES</a:t>
            </a:r>
          </a:p>
          <a:p>
            <a:pPr algn="ctr">
              <a:lnSpc>
                <a:spcPts val="2881"/>
              </a:lnSpc>
            </a:pPr>
            <a:r>
              <a:rPr lang="en-US" sz="2058" b="true">
                <a:solidFill>
                  <a:srgbClr val="78553F"/>
                </a:solidFill>
                <a:latin typeface="Canva Sans Bold"/>
                <a:ea typeface="Canva Sans Bold"/>
                <a:cs typeface="Canva Sans Bold"/>
                <a:sym typeface="Canva Sans Bold"/>
              </a:rPr>
              <a:t>('Ayşe Yılmaz', 'waiter', 'ayse.yilmaz@restaurant.com', 52000.00),</a:t>
            </a:r>
          </a:p>
          <a:p>
            <a:pPr algn="ctr">
              <a:lnSpc>
                <a:spcPts val="2881"/>
              </a:lnSpc>
            </a:pPr>
            <a:r>
              <a:rPr lang="en-US" sz="2058" b="true">
                <a:solidFill>
                  <a:srgbClr val="78553F"/>
                </a:solidFill>
                <a:latin typeface="Canva Sans Bold"/>
                <a:ea typeface="Canva Sans Bold"/>
                <a:cs typeface="Canva Sans Bold"/>
                <a:sym typeface="Canva Sans Bold"/>
              </a:rPr>
              <a:t>('Mehmet Kaya', 'waiter', 'mehmet.kaya@restaurant.com', 54000.50),</a:t>
            </a:r>
          </a:p>
          <a:p>
            <a:pPr algn="ctr">
              <a:lnSpc>
                <a:spcPts val="2881"/>
              </a:lnSpc>
            </a:pPr>
            <a:r>
              <a:rPr lang="en-US" sz="2058" b="true">
                <a:solidFill>
                  <a:srgbClr val="78553F"/>
                </a:solidFill>
                <a:latin typeface="Canva Sans Bold"/>
                <a:ea typeface="Canva Sans Bold"/>
                <a:cs typeface="Canva Sans Bold"/>
                <a:sym typeface="Canva Sans Bold"/>
              </a:rPr>
              <a:t>('Zeynep Demir', 'waiter', 'zeynep.demir@restaurant.com', 58000.75),</a:t>
            </a:r>
          </a:p>
          <a:p>
            <a:pPr algn="ctr">
              <a:lnSpc>
                <a:spcPts val="2881"/>
              </a:lnSpc>
            </a:pPr>
            <a:r>
              <a:rPr lang="en-US" sz="2058" b="true">
                <a:solidFill>
                  <a:srgbClr val="78553F"/>
                </a:solidFill>
                <a:latin typeface="Canva Sans Bold"/>
                <a:ea typeface="Canva Sans Bold"/>
                <a:cs typeface="Canva Sans Bold"/>
                <a:sym typeface="Canva Sans Bold"/>
              </a:rPr>
              <a:t>('Ali Şahin', 'chef', 'ali.sahin@restaurant.com', 85000.00),</a:t>
            </a:r>
          </a:p>
          <a:p>
            <a:pPr algn="ctr">
              <a:lnSpc>
                <a:spcPts val="2881"/>
              </a:lnSpc>
            </a:pPr>
            <a:r>
              <a:rPr lang="en-US" sz="2058" b="true">
                <a:solidFill>
                  <a:srgbClr val="78553F"/>
                </a:solidFill>
                <a:latin typeface="Canva Sans Bold"/>
                <a:ea typeface="Canva Sans Bold"/>
                <a:cs typeface="Canva Sans Bold"/>
                <a:sym typeface="Canva Sans Bold"/>
              </a:rPr>
              <a:t>('Fatma Aydın', 'chef', 'fatma.aydin@restaurant.com', 92000.00),</a:t>
            </a:r>
          </a:p>
          <a:p>
            <a:pPr algn="ctr">
              <a:lnSpc>
                <a:spcPts val="2881"/>
              </a:lnSpc>
            </a:pPr>
            <a:r>
              <a:rPr lang="en-US" sz="2058" b="true">
                <a:solidFill>
                  <a:srgbClr val="78553F"/>
                </a:solidFill>
                <a:latin typeface="Canva Sans Bold"/>
                <a:ea typeface="Canva Sans Bold"/>
                <a:cs typeface="Canva Sans Bold"/>
                <a:sym typeface="Canva Sans Bold"/>
              </a:rPr>
              <a:t>('Can Bulut', 'cashier', 'can.bulut@restaurant.com', 62000.50),</a:t>
            </a:r>
          </a:p>
          <a:p>
            <a:pPr algn="ctr">
              <a:lnSpc>
                <a:spcPts val="2881"/>
              </a:lnSpc>
            </a:pPr>
            <a:r>
              <a:rPr lang="en-US" sz="2058" b="true">
                <a:solidFill>
                  <a:srgbClr val="78553F"/>
                </a:solidFill>
                <a:latin typeface="Canva Sans Bold"/>
                <a:ea typeface="Canva Sans Bold"/>
                <a:cs typeface="Canva Sans Bold"/>
                <a:sym typeface="Canva Sans Bold"/>
              </a:rPr>
              <a:t>('Elif Toprak', 'cashier', 'elif.toprak@restaurant.com', 65000.00),</a:t>
            </a:r>
          </a:p>
          <a:p>
            <a:pPr algn="ctr">
              <a:lnSpc>
                <a:spcPts val="2881"/>
              </a:lnSpc>
            </a:pPr>
            <a:r>
              <a:rPr lang="en-US" sz="2058" b="true">
                <a:solidFill>
                  <a:srgbClr val="78553F"/>
                </a:solidFill>
                <a:latin typeface="Canva Sans Bold"/>
                <a:ea typeface="Canva Sans Bold"/>
                <a:cs typeface="Canva Sans Bold"/>
                <a:sym typeface="Canva Sans Bold"/>
              </a:rPr>
              <a:t>('Eren Yıldız', 'barista', 'eren.yildiz@restaurant.com', 68000.75),</a:t>
            </a:r>
          </a:p>
          <a:p>
            <a:pPr algn="ctr">
              <a:lnSpc>
                <a:spcPts val="2881"/>
              </a:lnSpc>
            </a:pPr>
            <a:r>
              <a:rPr lang="en-US" sz="2058" b="true">
                <a:solidFill>
                  <a:srgbClr val="78553F"/>
                </a:solidFill>
                <a:latin typeface="Canva Sans Bold"/>
                <a:ea typeface="Canva Sans Bold"/>
                <a:cs typeface="Canva Sans Bold"/>
                <a:sym typeface="Canva Sans Bold"/>
              </a:rPr>
              <a:t>('Selin Çelik', 'barista', 'selin.celik@restaurant.com', 72000.00),</a:t>
            </a:r>
          </a:p>
          <a:p>
            <a:pPr algn="ctr">
              <a:lnSpc>
                <a:spcPts val="2881"/>
              </a:lnSpc>
            </a:pPr>
            <a:r>
              <a:rPr lang="en-US" sz="2058" b="true">
                <a:solidFill>
                  <a:srgbClr val="78553F"/>
                </a:solidFill>
                <a:latin typeface="Canva Sans Bold"/>
                <a:ea typeface="Canva Sans Bold"/>
                <a:cs typeface="Canva Sans Bold"/>
                <a:sym typeface="Canva Sans Bold"/>
              </a:rPr>
              <a:t>('Cem Kurt', 'dishwasher', 'cem.kurt@restaurant.com', 50000.00),</a:t>
            </a:r>
          </a:p>
          <a:p>
            <a:pPr algn="ctr">
              <a:lnSpc>
                <a:spcPts val="2881"/>
              </a:lnSpc>
            </a:pPr>
            <a:r>
              <a:rPr lang="en-US" sz="2058" b="true">
                <a:solidFill>
                  <a:srgbClr val="78553F"/>
                </a:solidFill>
                <a:latin typeface="Canva Sans Bold"/>
                <a:ea typeface="Canva Sans Bold"/>
                <a:cs typeface="Canva Sans Bold"/>
                <a:sym typeface="Canva Sans Bold"/>
              </a:rPr>
              <a:t>('Deniz Arslan', 'dishwasher', 'deniz.arslan@restaurant.com', 51000.00),</a:t>
            </a:r>
          </a:p>
          <a:p>
            <a:pPr algn="ctr">
              <a:lnSpc>
                <a:spcPts val="2881"/>
              </a:lnSpc>
            </a:pPr>
            <a:r>
              <a:rPr lang="en-US" sz="2058" b="true">
                <a:solidFill>
                  <a:srgbClr val="78553F"/>
                </a:solidFill>
                <a:latin typeface="Canva Sans Bold"/>
                <a:ea typeface="Canva Sans Bold"/>
                <a:cs typeface="Canva Sans Bold"/>
                <a:sym typeface="Canva Sans Bold"/>
              </a:rPr>
              <a:t>('Aslı Tekin', 'pastry chef', 'asli.tekin@restaurant.com', 75000.00),</a:t>
            </a:r>
          </a:p>
          <a:p>
            <a:pPr algn="ctr">
              <a:lnSpc>
                <a:spcPts val="2881"/>
              </a:lnSpc>
            </a:pPr>
            <a:r>
              <a:rPr lang="en-US" sz="2058" b="true">
                <a:solidFill>
                  <a:srgbClr val="78553F"/>
                </a:solidFill>
                <a:latin typeface="Canva Sans Bold"/>
                <a:ea typeface="Canva Sans Bold"/>
                <a:cs typeface="Canva Sans Bold"/>
                <a:sym typeface="Canva Sans Bold"/>
              </a:rPr>
              <a:t>('Burak Koç', 'pastry chef', 'burak.koc@restaurant.com', 78000.50),</a:t>
            </a:r>
          </a:p>
          <a:p>
            <a:pPr algn="ctr">
              <a:lnSpc>
                <a:spcPts val="2881"/>
              </a:lnSpc>
            </a:pPr>
            <a:r>
              <a:rPr lang="en-US" sz="2058" b="true">
                <a:solidFill>
                  <a:srgbClr val="78553F"/>
                </a:solidFill>
                <a:latin typeface="Canva Sans Bold"/>
                <a:ea typeface="Canva Sans Bold"/>
                <a:cs typeface="Canva Sans Bold"/>
                <a:sym typeface="Canva Sans Bold"/>
              </a:rPr>
              <a:t>('Derya Yılmaz', 'cleaner', 'derya.yilmaz@restaurant.com', 50000.00),</a:t>
            </a:r>
          </a:p>
          <a:p>
            <a:pPr algn="ctr">
              <a:lnSpc>
                <a:spcPts val="2881"/>
              </a:lnSpc>
            </a:pPr>
            <a:r>
              <a:rPr lang="en-US" sz="2058" b="true">
                <a:solidFill>
                  <a:srgbClr val="78553F"/>
                </a:solidFill>
                <a:latin typeface="Canva Sans Bold"/>
                <a:ea typeface="Canva Sans Bold"/>
                <a:cs typeface="Canva Sans Bold"/>
                <a:sym typeface="Canva Sans Bold"/>
              </a:rPr>
              <a:t>('Emre Can', 'cleaner', 'emre.can@restaurant.com', 52000.00),</a:t>
            </a:r>
          </a:p>
          <a:p>
            <a:pPr algn="ctr">
              <a:lnSpc>
                <a:spcPts val="2881"/>
              </a:lnSpc>
            </a:pPr>
            <a:r>
              <a:rPr lang="en-US" sz="2058" b="true">
                <a:solidFill>
                  <a:srgbClr val="78553F"/>
                </a:solidFill>
                <a:latin typeface="Canva Sans Bold"/>
                <a:ea typeface="Canva Sans Bold"/>
                <a:cs typeface="Canva Sans Bold"/>
                <a:sym typeface="Canva Sans Bold"/>
              </a:rPr>
              <a:t>('Fırat Demir', 'delivery person', 'firat.demir@restaurant.com', 55000.00),</a:t>
            </a:r>
          </a:p>
          <a:p>
            <a:pPr algn="ctr">
              <a:lnSpc>
                <a:spcPts val="2881"/>
              </a:lnSpc>
            </a:pPr>
            <a:r>
              <a:rPr lang="en-US" sz="2058" b="true">
                <a:solidFill>
                  <a:srgbClr val="78553F"/>
                </a:solidFill>
                <a:latin typeface="Canva Sans Bold"/>
                <a:ea typeface="Canva Sans Bold"/>
                <a:cs typeface="Canva Sans Bold"/>
                <a:sym typeface="Canva Sans Bold"/>
              </a:rPr>
              <a:t>('Gizem Şen', 'delivery person', 'gizem.sen@restaurant.com', 58000.00);</a:t>
            </a:r>
          </a:p>
          <a:p>
            <a:pPr algn="ctr">
              <a:lnSpc>
                <a:spcPts val="2881"/>
              </a:lnSpc>
              <a:spcBef>
                <a:spcPct val="0"/>
              </a:spcBef>
            </a:pPr>
          </a:p>
        </p:txBody>
      </p:sp>
      <p:sp>
        <p:nvSpPr>
          <p:cNvPr name="TextBox 4" id="4"/>
          <p:cNvSpPr txBox="true"/>
          <p:nvPr/>
        </p:nvSpPr>
        <p:spPr>
          <a:xfrm rot="0">
            <a:off x="615544" y="5890005"/>
            <a:ext cx="7748426" cy="3141345"/>
          </a:xfrm>
          <a:prstGeom prst="rect">
            <a:avLst/>
          </a:prstGeom>
        </p:spPr>
        <p:txBody>
          <a:bodyPr anchor="t" rtlCol="false" tIns="0" lIns="0" bIns="0" rIns="0">
            <a:spAutoFit/>
          </a:bodyPr>
          <a:lstStyle/>
          <a:p>
            <a:pPr algn="ctr">
              <a:lnSpc>
                <a:spcPts val="2799"/>
              </a:lnSpc>
            </a:pPr>
            <a:r>
              <a:rPr lang="en-US" sz="1999" b="true">
                <a:solidFill>
                  <a:srgbClr val="78553F"/>
                </a:solidFill>
                <a:latin typeface="Canva Sans Bold"/>
                <a:ea typeface="Canva Sans Bold"/>
                <a:cs typeface="Canva Sans Bold"/>
                <a:sym typeface="Canva Sans Bold"/>
              </a:rPr>
              <a:t>INSERT INTO managers (username, email, phone_number, password) VALUES </a:t>
            </a:r>
          </a:p>
          <a:p>
            <a:pPr algn="ctr">
              <a:lnSpc>
                <a:spcPts val="2799"/>
              </a:lnSpc>
            </a:pPr>
            <a:r>
              <a:rPr lang="en-US" sz="1999" b="true">
                <a:solidFill>
                  <a:srgbClr val="78553F"/>
                </a:solidFill>
                <a:latin typeface="Canva Sans Bold"/>
                <a:ea typeface="Canva Sans Bold"/>
                <a:cs typeface="Canva Sans Bold"/>
                <a:sym typeface="Canva Sans Bold"/>
              </a:rPr>
              <a:t>('Irmak Kahya', 'ırmak@gmail.com', '5559497473', 'ırmak123123'),</a:t>
            </a:r>
          </a:p>
          <a:p>
            <a:pPr algn="ctr">
              <a:lnSpc>
                <a:spcPts val="2799"/>
              </a:lnSpc>
            </a:pPr>
            <a:r>
              <a:rPr lang="en-US" sz="1999" b="true">
                <a:solidFill>
                  <a:srgbClr val="78553F"/>
                </a:solidFill>
                <a:latin typeface="Canva Sans Bold"/>
                <a:ea typeface="Canva Sans Bold"/>
                <a:cs typeface="Canva Sans Bold"/>
                <a:sym typeface="Canva Sans Bold"/>
              </a:rPr>
              <a:t>('Emirhan Akbal', 'emirhan@gmail.com', '5512344543', 'emirhan123123'),</a:t>
            </a:r>
          </a:p>
          <a:p>
            <a:pPr algn="ctr">
              <a:lnSpc>
                <a:spcPts val="2799"/>
              </a:lnSpc>
            </a:pPr>
            <a:r>
              <a:rPr lang="en-US" sz="1999" b="true">
                <a:solidFill>
                  <a:srgbClr val="78553F"/>
                </a:solidFill>
                <a:latin typeface="Canva Sans Bold"/>
                <a:ea typeface="Canva Sans Bold"/>
                <a:cs typeface="Canva Sans Bold"/>
                <a:sym typeface="Canva Sans Bold"/>
              </a:rPr>
              <a:t>('Zeynep Eminoğlu', 'zeynep@gmail.com', '5555438768', 'zeynep123123');</a:t>
            </a:r>
          </a:p>
          <a:p>
            <a:pPr algn="ctr">
              <a:lnSpc>
                <a:spcPts val="265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310018" y="150026"/>
            <a:ext cx="718682" cy="878674"/>
          </a:xfrm>
          <a:custGeom>
            <a:avLst/>
            <a:gdLst/>
            <a:ahLst/>
            <a:cxnLst/>
            <a:rect r="r" b="b" t="t" l="l"/>
            <a:pathLst>
              <a:path h="878674" w="718682">
                <a:moveTo>
                  <a:pt x="0" y="0"/>
                </a:moveTo>
                <a:lnTo>
                  <a:pt x="718682" y="0"/>
                </a:lnTo>
                <a:lnTo>
                  <a:pt x="718682" y="878674"/>
                </a:lnTo>
                <a:lnTo>
                  <a:pt x="0" y="878674"/>
                </a:lnTo>
                <a:lnTo>
                  <a:pt x="0" y="0"/>
                </a:lnTo>
                <a:close/>
              </a:path>
            </a:pathLst>
          </a:custGeom>
          <a:blipFill>
            <a:blip r:embed="rId2"/>
            <a:stretch>
              <a:fillRect l="0" t="0" r="0" b="0"/>
            </a:stretch>
          </a:blipFill>
        </p:spPr>
      </p:sp>
      <p:sp>
        <p:nvSpPr>
          <p:cNvPr name="TextBox 3" id="3"/>
          <p:cNvSpPr txBox="true"/>
          <p:nvPr/>
        </p:nvSpPr>
        <p:spPr>
          <a:xfrm rot="0">
            <a:off x="1028700" y="282340"/>
            <a:ext cx="4508921" cy="547371"/>
          </a:xfrm>
          <a:prstGeom prst="rect">
            <a:avLst/>
          </a:prstGeom>
        </p:spPr>
        <p:txBody>
          <a:bodyPr anchor="t" rtlCol="false" tIns="0" lIns="0" bIns="0" rIns="0">
            <a:spAutoFit/>
          </a:bodyPr>
          <a:lstStyle/>
          <a:p>
            <a:pPr algn="ctr">
              <a:lnSpc>
                <a:spcPts val="4479"/>
              </a:lnSpc>
              <a:spcBef>
                <a:spcPct val="0"/>
              </a:spcBef>
            </a:pPr>
            <a:r>
              <a:rPr lang="en-US" sz="3199">
                <a:solidFill>
                  <a:srgbClr val="512615"/>
                </a:solidFill>
                <a:latin typeface="Norwester"/>
                <a:ea typeface="Norwester"/>
                <a:cs typeface="Norwester"/>
                <a:sym typeface="Norwester"/>
              </a:rPr>
              <a:t>Database Update:</a:t>
            </a:r>
          </a:p>
        </p:txBody>
      </p:sp>
      <p:sp>
        <p:nvSpPr>
          <p:cNvPr name="TextBox 4" id="4"/>
          <p:cNvSpPr txBox="true"/>
          <p:nvPr/>
        </p:nvSpPr>
        <p:spPr>
          <a:xfrm rot="0">
            <a:off x="1028700" y="1079204"/>
            <a:ext cx="7341209" cy="8367169"/>
          </a:xfrm>
          <a:prstGeom prst="rect">
            <a:avLst/>
          </a:prstGeom>
        </p:spPr>
        <p:txBody>
          <a:bodyPr anchor="t" rtlCol="false" tIns="0" lIns="0" bIns="0" rIns="0">
            <a:spAutoFit/>
          </a:bodyPr>
          <a:lstStyle/>
          <a:p>
            <a:pPr algn="ctr">
              <a:lnSpc>
                <a:spcPts val="1762"/>
              </a:lnSpc>
            </a:pPr>
            <a:r>
              <a:rPr lang="en-US" sz="1259" b="true">
                <a:solidFill>
                  <a:srgbClr val="512615"/>
                </a:solidFill>
                <a:latin typeface="Canva Sans Bold"/>
                <a:ea typeface="Canva Sans Bold"/>
                <a:cs typeface="Canva Sans Bold"/>
                <a:sym typeface="Canva Sans Bold"/>
              </a:rPr>
              <a:t>select*from products;</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'image/bbqburger.jpg' WHERE name = 'BBQ Burger';</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'image/breadedchicken.jpg' WHERE name = 'Breaded Chicken';</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'image/breakfastspread.jpg' WHERE name = 'Breakfast Spread';</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'image/brownie.jpg' WHERE name = 'Brownie';</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'image/bruschetta.jpg' WHERE name = 'Bruschetta';</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'image/buffalowings.jpg' WHERE name = 'Buffalo Wings';</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'image/caesaarsalad.jpg' WHERE name = 'Caesar Salad';</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'image/cheeseburger.jpg' WHERE name = 'Cheeseburger';</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'image/cheesecake.jpg' WHERE name = 'Cheesecake';</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'image/chickenbrothsoup.jpg' WHERE name = 'Chicken Broth';</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'image/chickensalad.jpg' WHERE name = 'Chicken Salad';</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'image/chickenschnitzel.jpg' WHERE name = 'Chicken Schnitzel';</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'image/chickenwrap.jpg' WHERE name = 'Chicken Wrap';</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'image/classicburger.jpg' WHERE name = 'Classic Hamburger';</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'image/doubleburger.jpg' WHERE name = 'Double Burger';</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'image/fettucinialfredo.jpg' WHERE name = 'Fettucine Alfredo';</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'image/fourcheesepizza.jpg' WHERE name = 'Four Cheese Pizza';</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'image/frenchfries.jpg' WHERE name = 'French Fries ';</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'image/friedegg.jpg' WHERE name = 'Fried Egg';</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'image/grilledchicken.jpg' WHERE name = 'Grilled Chicken';</a:t>
            </a:r>
          </a:p>
          <a:p>
            <a:pPr algn="ctr">
              <a:lnSpc>
                <a:spcPts val="1864"/>
              </a:lnSpc>
            </a:pPr>
            <a:r>
              <a:rPr lang="en-US" sz="1331" b="true">
                <a:solidFill>
                  <a:srgbClr val="78553F"/>
                </a:solidFill>
                <a:latin typeface="Canva Sans Bold"/>
                <a:ea typeface="Canva Sans Bold"/>
                <a:cs typeface="Canva Sans Bold"/>
                <a:sym typeface="Canva Sans Bold"/>
              </a:rPr>
              <a:t>UPDATE products SET image_path = 'image/lasagne.jpg' WHERE name = 'Lasagne';</a:t>
            </a:r>
          </a:p>
          <a:p>
            <a:pPr algn="ctr">
              <a:lnSpc>
                <a:spcPts val="1209"/>
              </a:lnSpc>
              <a:spcBef>
                <a:spcPct val="0"/>
              </a:spcBef>
            </a:pPr>
          </a:p>
        </p:txBody>
      </p:sp>
      <p:sp>
        <p:nvSpPr>
          <p:cNvPr name="TextBox 5" id="5"/>
          <p:cNvSpPr txBox="true"/>
          <p:nvPr/>
        </p:nvSpPr>
        <p:spPr>
          <a:xfrm rot="0">
            <a:off x="9519280" y="805312"/>
            <a:ext cx="7740020" cy="8914952"/>
          </a:xfrm>
          <a:prstGeom prst="rect">
            <a:avLst/>
          </a:prstGeom>
        </p:spPr>
        <p:txBody>
          <a:bodyPr anchor="t" rtlCol="false" tIns="0" lIns="0" bIns="0" rIns="0">
            <a:spAutoFit/>
          </a:bodyPr>
          <a:lstStyle/>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'image/lentilsoup.jpg' WHERE name = 'Lentil Soup';</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'image/magnoliapudding.jpg' WHERE name = 'Magnolia Pudding';</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'image/margheritapizza.jpg' WHERE name = 'Margherita Pizza';</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'image/mediterraneansalad.jpg' WHERE name = 'Mediterranean Salad';</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'image/menemen.jpg' WHERE name = 'Menemen';</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'image/mixedpizza.jpg' WHERE name = 'Mixed Pizza';</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'image/mozarellasticks.jpg' WHERE name = 'Mozzarella Stick';</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'image/napolitanpasta.jpg' WHERE name = 'Napolitan Pasta';</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'image/onionrings.jpg' WHERE name = 'Onion Rings';</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'image/pennearabiata.jpg' WHERE name = 'Penne Arabiata';</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'image/pepperonipizza.jpg' WHERE name = 'Pepperoni Pizza';</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'image/quinoasalad.jpg' WHERE name = 'Quinoa Salad';</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'image/sandwich.jpg' WHERE name = 'Sandwich';</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'image/souffle.jpg' WHERE name = 'Chocolate Souffle';</a:t>
            </a:r>
          </a:p>
          <a:p>
            <a:pPr algn="ctr">
              <a:lnSpc>
                <a:spcPts val="2149"/>
              </a:lnSpc>
            </a:pPr>
            <a:r>
              <a:rPr lang="en-US" sz="1535" b="true">
                <a:solidFill>
                  <a:srgbClr val="78553F"/>
                </a:solidFill>
                <a:latin typeface="Canva Sans Bold"/>
                <a:ea typeface="Canva Sans Bold"/>
                <a:cs typeface="Canva Sans Bold"/>
                <a:sym typeface="Canva Sans Bold"/>
              </a:rPr>
              <a:t>UPDATE products SET image_path = 'image/spaghettibolognese.jpg' WHERE name = 'Spaghetti Bolognese';</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'image/stuffedmushrooms.jpg' WHERE name = 'Stuffed Mushrooms';</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'image/tiramisu.jpg' WHERE name = 'Tiramisu';</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'image/toast.jpg' WHERE name = 'Toast';</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'image/tomatosoup.jpg' WHERE name = 'Tomato Soup ';</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'image/tripesoup.jpg' WHERE name ='Tripe Soup';</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'image/tunasalad.jpg' WHERE name = 'Tuna Salad';</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'image/vegetablesoup.jpg' WHERE name = 'Vegetable Soup';</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'image/vegetarianpizza.jpg' WHERE name = 'Vegetarian Pizza';</a:t>
            </a:r>
          </a:p>
          <a:p>
            <a:pPr algn="ctr">
              <a:lnSpc>
                <a:spcPts val="1919"/>
              </a:lnSpc>
            </a:pPr>
            <a:r>
              <a:rPr lang="en-US" sz="1371" b="true">
                <a:solidFill>
                  <a:srgbClr val="78553F"/>
                </a:solidFill>
                <a:latin typeface="Canva Sans Bold"/>
                <a:ea typeface="Canva Sans Bold"/>
                <a:cs typeface="Canva Sans Bold"/>
                <a:sym typeface="Canva Sans Bold"/>
              </a:rPr>
              <a:t>UPDATE products SET image_path = 'image/veggieburger.jpg' WHERE name = 'Veggie Burger';</a:t>
            </a:r>
          </a:p>
          <a:p>
            <a:pPr algn="ctr">
              <a:lnSpc>
                <a:spcPts val="1798"/>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546505" y="1954879"/>
            <a:ext cx="7030918" cy="7093057"/>
          </a:xfrm>
          <a:custGeom>
            <a:avLst/>
            <a:gdLst/>
            <a:ahLst/>
            <a:cxnLst/>
            <a:rect r="r" b="b" t="t" l="l"/>
            <a:pathLst>
              <a:path h="7093057" w="7030918">
                <a:moveTo>
                  <a:pt x="0" y="0"/>
                </a:moveTo>
                <a:lnTo>
                  <a:pt x="7030918" y="0"/>
                </a:lnTo>
                <a:lnTo>
                  <a:pt x="7030918" y="7093057"/>
                </a:lnTo>
                <a:lnTo>
                  <a:pt x="0" y="7093057"/>
                </a:lnTo>
                <a:lnTo>
                  <a:pt x="0" y="0"/>
                </a:lnTo>
                <a:close/>
              </a:path>
            </a:pathLst>
          </a:custGeom>
          <a:blipFill>
            <a:blip r:embed="rId2"/>
            <a:stretch>
              <a:fillRect l="0" t="0" r="0" b="-10933"/>
            </a:stretch>
          </a:blipFill>
        </p:spPr>
      </p:sp>
      <p:sp>
        <p:nvSpPr>
          <p:cNvPr name="TextBox 3" id="3"/>
          <p:cNvSpPr txBox="true"/>
          <p:nvPr/>
        </p:nvSpPr>
        <p:spPr>
          <a:xfrm rot="0">
            <a:off x="1905291" y="455294"/>
            <a:ext cx="13915098" cy="573406"/>
          </a:xfrm>
          <a:prstGeom prst="rect">
            <a:avLst/>
          </a:prstGeom>
        </p:spPr>
        <p:txBody>
          <a:bodyPr anchor="t" rtlCol="false" tIns="0" lIns="0" bIns="0" rIns="0">
            <a:spAutoFit/>
          </a:bodyPr>
          <a:lstStyle/>
          <a:p>
            <a:pPr algn="ctr">
              <a:lnSpc>
                <a:spcPts val="4619"/>
              </a:lnSpc>
              <a:spcBef>
                <a:spcPct val="0"/>
              </a:spcBef>
            </a:pPr>
            <a:r>
              <a:rPr lang="en-US" sz="3299">
                <a:solidFill>
                  <a:srgbClr val="512615"/>
                </a:solidFill>
                <a:latin typeface="Norwester"/>
                <a:ea typeface="Norwester"/>
                <a:cs typeface="Norwester"/>
                <a:sym typeface="Norwester"/>
              </a:rPr>
              <a:t>Sign Up Page</a:t>
            </a:r>
          </a:p>
        </p:txBody>
      </p:sp>
      <p:sp>
        <p:nvSpPr>
          <p:cNvPr name="TextBox 4" id="4"/>
          <p:cNvSpPr txBox="true"/>
          <p:nvPr/>
        </p:nvSpPr>
        <p:spPr>
          <a:xfrm rot="0">
            <a:off x="8065302" y="2629658"/>
            <a:ext cx="9778266" cy="3902267"/>
          </a:xfrm>
          <a:prstGeom prst="rect">
            <a:avLst/>
          </a:prstGeom>
        </p:spPr>
        <p:txBody>
          <a:bodyPr anchor="t" rtlCol="false" tIns="0" lIns="0" bIns="0" rIns="0">
            <a:spAutoFit/>
          </a:bodyPr>
          <a:lstStyle/>
          <a:p>
            <a:pPr algn="ctr">
              <a:lnSpc>
                <a:spcPts val="3839"/>
              </a:lnSpc>
              <a:spcBef>
                <a:spcPct val="0"/>
              </a:spcBef>
            </a:pPr>
            <a:r>
              <a:rPr lang="en-US" sz="2742">
                <a:solidFill>
                  <a:srgbClr val="78553F"/>
                </a:solidFill>
                <a:latin typeface="Helvetica World"/>
                <a:ea typeface="Helvetica World"/>
                <a:cs typeface="Helvetica World"/>
                <a:sym typeface="Helvetica World"/>
              </a:rPr>
              <a:t>In sign up page , The user  will open a new account  and  it will be added  to customer table . All fields are required to  open a new acount . After opening an account with username, email,phone number, password  by clicking the login button , the user can go to login page and enter to cafe order  page  by filling the user enterance .Adding a manager  can be made by the other managers  from managements system for security  so this page  works </a:t>
            </a:r>
            <a:r>
              <a:rPr lang="en-US" b="true" sz="2742">
                <a:solidFill>
                  <a:srgbClr val="78553F"/>
                </a:solidFill>
                <a:latin typeface="Helvetica World Bold"/>
                <a:ea typeface="Helvetica World Bold"/>
                <a:cs typeface="Helvetica World Bold"/>
                <a:sym typeface="Helvetica World Bold"/>
              </a:rPr>
              <a:t>for users only.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850190" y="2331678"/>
            <a:ext cx="7271953" cy="5623644"/>
          </a:xfrm>
          <a:custGeom>
            <a:avLst/>
            <a:gdLst/>
            <a:ahLst/>
            <a:cxnLst/>
            <a:rect r="r" b="b" t="t" l="l"/>
            <a:pathLst>
              <a:path h="5623644" w="7271953">
                <a:moveTo>
                  <a:pt x="0" y="0"/>
                </a:moveTo>
                <a:lnTo>
                  <a:pt x="7271953" y="0"/>
                </a:lnTo>
                <a:lnTo>
                  <a:pt x="7271953" y="5623644"/>
                </a:lnTo>
                <a:lnTo>
                  <a:pt x="0" y="5623644"/>
                </a:lnTo>
                <a:lnTo>
                  <a:pt x="0" y="0"/>
                </a:lnTo>
                <a:close/>
              </a:path>
            </a:pathLst>
          </a:custGeom>
          <a:blipFill>
            <a:blip r:embed="rId2"/>
            <a:stretch>
              <a:fillRect l="0" t="0" r="0" b="0"/>
            </a:stretch>
          </a:blipFill>
        </p:spPr>
      </p:sp>
      <p:grpSp>
        <p:nvGrpSpPr>
          <p:cNvPr name="Group 3" id="3"/>
          <p:cNvGrpSpPr/>
          <p:nvPr/>
        </p:nvGrpSpPr>
        <p:grpSpPr>
          <a:xfrm rot="0">
            <a:off x="9324151" y="1381442"/>
            <a:ext cx="7792672" cy="7876858"/>
            <a:chOff x="0" y="0"/>
            <a:chExt cx="4588295" cy="4637863"/>
          </a:xfrm>
        </p:grpSpPr>
        <p:sp>
          <p:nvSpPr>
            <p:cNvPr name="Freeform 4" id="4"/>
            <p:cNvSpPr/>
            <p:nvPr/>
          </p:nvSpPr>
          <p:spPr>
            <a:xfrm flipH="false" flipV="false" rot="0">
              <a:off x="0" y="0"/>
              <a:ext cx="4588295" cy="4637863"/>
            </a:xfrm>
            <a:custGeom>
              <a:avLst/>
              <a:gdLst/>
              <a:ahLst/>
              <a:cxnLst/>
              <a:rect r="r" b="b" t="t" l="l"/>
              <a:pathLst>
                <a:path h="4637863" w="4588295">
                  <a:moveTo>
                    <a:pt x="0" y="0"/>
                  </a:moveTo>
                  <a:lnTo>
                    <a:pt x="4588295" y="0"/>
                  </a:lnTo>
                  <a:lnTo>
                    <a:pt x="4588295" y="4637863"/>
                  </a:lnTo>
                  <a:lnTo>
                    <a:pt x="0" y="4637863"/>
                  </a:lnTo>
                  <a:close/>
                </a:path>
              </a:pathLst>
            </a:custGeom>
            <a:solidFill>
              <a:srgbClr val="FFFCEE"/>
            </a:solidFill>
          </p:spPr>
        </p:sp>
        <p:sp>
          <p:nvSpPr>
            <p:cNvPr name="TextBox 5" id="5"/>
            <p:cNvSpPr txBox="true"/>
            <p:nvPr/>
          </p:nvSpPr>
          <p:spPr>
            <a:xfrm>
              <a:off x="0" y="-38100"/>
              <a:ext cx="4588295" cy="467596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9324151" y="2274528"/>
            <a:ext cx="7090016" cy="6268605"/>
          </a:xfrm>
          <a:prstGeom prst="rect">
            <a:avLst/>
          </a:prstGeom>
        </p:spPr>
        <p:txBody>
          <a:bodyPr anchor="t" rtlCol="false" tIns="0" lIns="0" bIns="0" rIns="0">
            <a:spAutoFit/>
          </a:bodyPr>
          <a:lstStyle/>
          <a:p>
            <a:pPr algn="ctr">
              <a:lnSpc>
                <a:spcPts val="4136"/>
              </a:lnSpc>
            </a:pPr>
            <a:r>
              <a:rPr lang="en-US" sz="2954">
                <a:solidFill>
                  <a:srgbClr val="78553F"/>
                </a:solidFill>
                <a:latin typeface="Helvetica World"/>
                <a:ea typeface="Helvetica World"/>
                <a:cs typeface="Helvetica World"/>
                <a:sym typeface="Helvetica World"/>
              </a:rPr>
              <a:t>In the login page , we have user enterance and  manager enterence . We get the users from  customer table and  manager enterance from manager table .If user doesn’t have an account ,from signup button can go to signup page to open a new account.</a:t>
            </a:r>
          </a:p>
          <a:p>
            <a:pPr algn="ctr">
              <a:lnSpc>
                <a:spcPts val="4136"/>
              </a:lnSpc>
            </a:pPr>
          </a:p>
          <a:p>
            <a:pPr algn="ctr">
              <a:lnSpc>
                <a:spcPts val="4136"/>
              </a:lnSpc>
              <a:spcBef>
                <a:spcPct val="0"/>
              </a:spcBef>
            </a:pPr>
            <a:r>
              <a:rPr lang="en-US" sz="2954">
                <a:solidFill>
                  <a:srgbClr val="78553F"/>
                </a:solidFill>
                <a:latin typeface="Helvetica World"/>
                <a:ea typeface="Helvetica World"/>
                <a:cs typeface="Helvetica World"/>
                <a:sym typeface="Helvetica World"/>
              </a:rPr>
              <a:t>When user enters from  user enterance ,it will go to cafe order system . When manager enters from manager enterance , it will go to management system .</a:t>
            </a:r>
          </a:p>
        </p:txBody>
      </p:sp>
      <p:sp>
        <p:nvSpPr>
          <p:cNvPr name="TextBox 7" id="7"/>
          <p:cNvSpPr txBox="true"/>
          <p:nvPr/>
        </p:nvSpPr>
        <p:spPr>
          <a:xfrm rot="0">
            <a:off x="-4771098" y="703897"/>
            <a:ext cx="13915098" cy="573406"/>
          </a:xfrm>
          <a:prstGeom prst="rect">
            <a:avLst/>
          </a:prstGeom>
        </p:spPr>
        <p:txBody>
          <a:bodyPr anchor="t" rtlCol="false" tIns="0" lIns="0" bIns="0" rIns="0">
            <a:spAutoFit/>
          </a:bodyPr>
          <a:lstStyle/>
          <a:p>
            <a:pPr algn="ctr">
              <a:lnSpc>
                <a:spcPts val="4619"/>
              </a:lnSpc>
              <a:spcBef>
                <a:spcPct val="0"/>
              </a:spcBef>
            </a:pPr>
            <a:r>
              <a:rPr lang="en-US" sz="3299">
                <a:solidFill>
                  <a:srgbClr val="512615"/>
                </a:solidFill>
                <a:latin typeface="Norwester"/>
                <a:ea typeface="Norwester"/>
                <a:cs typeface="Norwester"/>
                <a:sym typeface="Norwester"/>
              </a:rPr>
              <a:t>Login  Page: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grpSp>
        <p:nvGrpSpPr>
          <p:cNvPr name="Group 2" id="2"/>
          <p:cNvGrpSpPr/>
          <p:nvPr/>
        </p:nvGrpSpPr>
        <p:grpSpPr>
          <a:xfrm rot="0">
            <a:off x="-273316" y="2457155"/>
            <a:ext cx="8634775" cy="8582732"/>
            <a:chOff x="0" y="0"/>
            <a:chExt cx="2274179" cy="2260473"/>
          </a:xfrm>
        </p:grpSpPr>
        <p:sp>
          <p:nvSpPr>
            <p:cNvPr name="Freeform 3" id="3"/>
            <p:cNvSpPr/>
            <p:nvPr/>
          </p:nvSpPr>
          <p:spPr>
            <a:xfrm flipH="false" flipV="false" rot="0">
              <a:off x="0" y="0"/>
              <a:ext cx="2274179" cy="2260472"/>
            </a:xfrm>
            <a:custGeom>
              <a:avLst/>
              <a:gdLst/>
              <a:ahLst/>
              <a:cxnLst/>
              <a:rect r="r" b="b" t="t" l="l"/>
              <a:pathLst>
                <a:path h="2260472" w="2274179">
                  <a:moveTo>
                    <a:pt x="0" y="0"/>
                  </a:moveTo>
                  <a:lnTo>
                    <a:pt x="2274179" y="0"/>
                  </a:lnTo>
                  <a:lnTo>
                    <a:pt x="2274179" y="2260472"/>
                  </a:lnTo>
                  <a:lnTo>
                    <a:pt x="0" y="2260472"/>
                  </a:lnTo>
                  <a:close/>
                </a:path>
              </a:pathLst>
            </a:custGeom>
            <a:solidFill>
              <a:srgbClr val="78553F"/>
            </a:solidFill>
          </p:spPr>
        </p:sp>
        <p:sp>
          <p:nvSpPr>
            <p:cNvPr name="TextBox 4" id="4"/>
            <p:cNvSpPr txBox="true"/>
            <p:nvPr/>
          </p:nvSpPr>
          <p:spPr>
            <a:xfrm>
              <a:off x="0" y="-38100"/>
              <a:ext cx="2274179" cy="229857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7259300" y="9726618"/>
            <a:ext cx="321549" cy="321549"/>
          </a:xfrm>
          <a:custGeom>
            <a:avLst/>
            <a:gdLst/>
            <a:ahLst/>
            <a:cxnLst/>
            <a:rect r="r" b="b" t="t" l="l"/>
            <a:pathLst>
              <a:path h="321549" w="321549">
                <a:moveTo>
                  <a:pt x="0" y="0"/>
                </a:moveTo>
                <a:lnTo>
                  <a:pt x="321549" y="0"/>
                </a:lnTo>
                <a:lnTo>
                  <a:pt x="321549" y="321549"/>
                </a:lnTo>
                <a:lnTo>
                  <a:pt x="0" y="321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59747" y="590615"/>
            <a:ext cx="4435227" cy="1621048"/>
          </a:xfrm>
          <a:prstGeom prst="rect">
            <a:avLst/>
          </a:prstGeom>
        </p:spPr>
        <p:txBody>
          <a:bodyPr anchor="t" rtlCol="false" tIns="0" lIns="0" bIns="0" rIns="0">
            <a:spAutoFit/>
          </a:bodyPr>
          <a:lstStyle/>
          <a:p>
            <a:pPr algn="l">
              <a:lnSpc>
                <a:spcPts val="6032"/>
              </a:lnSpc>
            </a:pPr>
            <a:r>
              <a:rPr lang="en-US" sz="7181" spc="-287">
                <a:solidFill>
                  <a:srgbClr val="78553F"/>
                </a:solidFill>
                <a:latin typeface="Norwester"/>
                <a:ea typeface="Norwester"/>
                <a:cs typeface="Norwester"/>
                <a:sym typeface="Norwester"/>
              </a:rPr>
              <a:t>USER INTERFACE</a:t>
            </a:r>
          </a:p>
        </p:txBody>
      </p:sp>
      <p:sp>
        <p:nvSpPr>
          <p:cNvPr name="TextBox 7" id="7"/>
          <p:cNvSpPr txBox="true"/>
          <p:nvPr/>
        </p:nvSpPr>
        <p:spPr>
          <a:xfrm rot="0">
            <a:off x="431845" y="3304018"/>
            <a:ext cx="7224452" cy="6422600"/>
          </a:xfrm>
          <a:prstGeom prst="rect">
            <a:avLst/>
          </a:prstGeom>
        </p:spPr>
        <p:txBody>
          <a:bodyPr anchor="t" rtlCol="false" tIns="0" lIns="0" bIns="0" rIns="0">
            <a:spAutoFit/>
          </a:bodyPr>
          <a:lstStyle/>
          <a:p>
            <a:pPr algn="l" marL="572878" indent="-286439" lvl="1">
              <a:lnSpc>
                <a:spcPts val="3184"/>
              </a:lnSpc>
              <a:buFont typeface="Arial"/>
              <a:buChar char="•"/>
            </a:pPr>
            <a:r>
              <a:rPr lang="en-US" sz="2653" spc="-79">
                <a:solidFill>
                  <a:srgbClr val="FFFCEE"/>
                </a:solidFill>
                <a:latin typeface="Helvetica World"/>
                <a:ea typeface="Helvetica World"/>
                <a:cs typeface="Helvetica World"/>
                <a:sym typeface="Helvetica World"/>
              </a:rPr>
              <a:t>📌 The interface displays products in a grid layout with images, names, prices, and categories.</a:t>
            </a:r>
          </a:p>
          <a:p>
            <a:pPr algn="l" marL="572878" indent="-286439" lvl="1">
              <a:lnSpc>
                <a:spcPts val="3184"/>
              </a:lnSpc>
              <a:buFont typeface="Arial"/>
              <a:buChar char="•"/>
            </a:pPr>
            <a:r>
              <a:rPr lang="en-US" sz="2653" spc="-79">
                <a:solidFill>
                  <a:srgbClr val="FFFCEE"/>
                </a:solidFill>
                <a:latin typeface="Helvetica World"/>
                <a:ea typeface="Helvetica World"/>
                <a:cs typeface="Helvetica World"/>
                <a:sym typeface="Helvetica World"/>
              </a:rPr>
              <a:t>🛒 Users can click any product to add it to the order list below.</a:t>
            </a:r>
          </a:p>
          <a:p>
            <a:pPr algn="l" marL="572878" indent="-286439" lvl="1">
              <a:lnSpc>
                <a:spcPts val="3184"/>
              </a:lnSpc>
              <a:buFont typeface="Arial"/>
              <a:buChar char="•"/>
            </a:pPr>
            <a:r>
              <a:rPr lang="en-US" sz="2653" spc="-79">
                <a:solidFill>
                  <a:srgbClr val="FFFCEE"/>
                </a:solidFill>
                <a:latin typeface="Helvetica World"/>
                <a:ea typeface="Helvetica World"/>
                <a:cs typeface="Helvetica World"/>
                <a:sym typeface="Helvetica World"/>
              </a:rPr>
              <a:t>📂 Each product also shows its category (e.g., Breakfast, Appetizers) in italic for visual grouping.</a:t>
            </a:r>
          </a:p>
          <a:p>
            <a:pPr algn="l" marL="572878" indent="-286439" lvl="1">
              <a:lnSpc>
                <a:spcPts val="3184"/>
              </a:lnSpc>
              <a:buFont typeface="Arial"/>
              <a:buChar char="•"/>
            </a:pPr>
            <a:r>
              <a:rPr lang="en-US" sz="2653" spc="-79">
                <a:solidFill>
                  <a:srgbClr val="FFFCEE"/>
                </a:solidFill>
                <a:latin typeface="Helvetica World"/>
                <a:ea typeface="Helvetica World"/>
                <a:cs typeface="Helvetica World"/>
                <a:sym typeface="Helvetica World"/>
              </a:rPr>
              <a:t>💵 The selected items appear in the text area, showing quantity and price per item.</a:t>
            </a:r>
          </a:p>
          <a:p>
            <a:pPr algn="l" marL="572878" indent="-286439" lvl="1">
              <a:lnSpc>
                <a:spcPts val="3184"/>
              </a:lnSpc>
              <a:buFont typeface="Arial"/>
              <a:buChar char="•"/>
            </a:pPr>
            <a:r>
              <a:rPr lang="en-US" sz="2653" spc="-79">
                <a:solidFill>
                  <a:srgbClr val="FFFCEE"/>
                </a:solidFill>
                <a:latin typeface="Helvetica World"/>
                <a:ea typeface="Helvetica World"/>
                <a:cs typeface="Helvetica World"/>
                <a:sym typeface="Helvetica World"/>
              </a:rPr>
              <a:t>🧮 The total amount is calculated and shown at the screen.</a:t>
            </a:r>
          </a:p>
          <a:p>
            <a:pPr algn="l">
              <a:lnSpc>
                <a:spcPts val="3184"/>
              </a:lnSpc>
            </a:pPr>
          </a:p>
          <a:p>
            <a:pPr algn="l" marL="572878" indent="-286439" lvl="1">
              <a:lnSpc>
                <a:spcPts val="3184"/>
              </a:lnSpc>
              <a:buFont typeface="Arial"/>
              <a:buChar char="•"/>
            </a:pPr>
            <a:r>
              <a:rPr lang="en-US" sz="2653" spc="-79">
                <a:solidFill>
                  <a:srgbClr val="FFFCEE"/>
                </a:solidFill>
                <a:latin typeface="Helvetica World"/>
                <a:ea typeface="Helvetica World"/>
                <a:cs typeface="Helvetica World"/>
                <a:sym typeface="Helvetica World"/>
              </a:rPr>
              <a:t>📍There is a delivery address field , it takes the address of the customer to deliver .It is required.</a:t>
            </a:r>
          </a:p>
          <a:p>
            <a:pPr algn="l">
              <a:lnSpc>
                <a:spcPts val="3184"/>
              </a:lnSpc>
            </a:pPr>
          </a:p>
        </p:txBody>
      </p:sp>
      <p:sp>
        <p:nvSpPr>
          <p:cNvPr name="Freeform 8" id="8"/>
          <p:cNvSpPr/>
          <p:nvPr/>
        </p:nvSpPr>
        <p:spPr>
          <a:xfrm flipH="false" flipV="false" rot="0">
            <a:off x="9144000" y="1891195"/>
            <a:ext cx="8103835" cy="7212413"/>
          </a:xfrm>
          <a:custGeom>
            <a:avLst/>
            <a:gdLst/>
            <a:ahLst/>
            <a:cxnLst/>
            <a:rect r="r" b="b" t="t" l="l"/>
            <a:pathLst>
              <a:path h="7212413" w="8103835">
                <a:moveTo>
                  <a:pt x="0" y="0"/>
                </a:moveTo>
                <a:lnTo>
                  <a:pt x="8103835" y="0"/>
                </a:lnTo>
                <a:lnTo>
                  <a:pt x="8103835" y="7212412"/>
                </a:lnTo>
                <a:lnTo>
                  <a:pt x="0" y="7212412"/>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326751" y="2420149"/>
            <a:ext cx="7759957" cy="6657676"/>
          </a:xfrm>
          <a:custGeom>
            <a:avLst/>
            <a:gdLst/>
            <a:ahLst/>
            <a:cxnLst/>
            <a:rect r="r" b="b" t="t" l="l"/>
            <a:pathLst>
              <a:path h="6657676" w="7759957">
                <a:moveTo>
                  <a:pt x="0" y="0"/>
                </a:moveTo>
                <a:lnTo>
                  <a:pt x="7759957" y="0"/>
                </a:lnTo>
                <a:lnTo>
                  <a:pt x="7759957" y="6657676"/>
                </a:lnTo>
                <a:lnTo>
                  <a:pt x="0" y="6657676"/>
                </a:lnTo>
                <a:lnTo>
                  <a:pt x="0" y="0"/>
                </a:lnTo>
                <a:close/>
              </a:path>
            </a:pathLst>
          </a:custGeom>
          <a:blipFill>
            <a:blip r:embed="rId2"/>
            <a:stretch>
              <a:fillRect l="0" t="-1896" r="0" b="-1896"/>
            </a:stretch>
          </a:blipFill>
        </p:spPr>
      </p:sp>
      <p:sp>
        <p:nvSpPr>
          <p:cNvPr name="TextBox 3" id="3"/>
          <p:cNvSpPr txBox="true"/>
          <p:nvPr/>
        </p:nvSpPr>
        <p:spPr>
          <a:xfrm rot="0">
            <a:off x="1905291" y="464819"/>
            <a:ext cx="13781469" cy="1134551"/>
          </a:xfrm>
          <a:prstGeom prst="rect">
            <a:avLst/>
          </a:prstGeom>
        </p:spPr>
        <p:txBody>
          <a:bodyPr anchor="t" rtlCol="false" tIns="0" lIns="0" bIns="0" rIns="0">
            <a:spAutoFit/>
          </a:bodyPr>
          <a:lstStyle/>
          <a:p>
            <a:pPr algn="ctr">
              <a:lnSpc>
                <a:spcPts val="4575"/>
              </a:lnSpc>
            </a:pPr>
            <a:r>
              <a:rPr lang="en-US" sz="3268">
                <a:solidFill>
                  <a:srgbClr val="512615"/>
                </a:solidFill>
                <a:latin typeface="Norwester"/>
                <a:ea typeface="Norwester"/>
                <a:cs typeface="Norwester"/>
                <a:sym typeface="Norwester"/>
              </a:rPr>
              <a:t>user Interface</a:t>
            </a:r>
          </a:p>
          <a:p>
            <a:pPr algn="ctr">
              <a:lnSpc>
                <a:spcPts val="4575"/>
              </a:lnSpc>
              <a:spcBef>
                <a:spcPct val="0"/>
              </a:spcBef>
            </a:pPr>
          </a:p>
        </p:txBody>
      </p:sp>
      <p:sp>
        <p:nvSpPr>
          <p:cNvPr name="TextBox 4" id="4"/>
          <p:cNvSpPr txBox="true"/>
          <p:nvPr/>
        </p:nvSpPr>
        <p:spPr>
          <a:xfrm rot="0">
            <a:off x="8959224" y="2353474"/>
            <a:ext cx="8683561" cy="5257801"/>
          </a:xfrm>
          <a:prstGeom prst="rect">
            <a:avLst/>
          </a:prstGeom>
        </p:spPr>
        <p:txBody>
          <a:bodyPr anchor="t" rtlCol="false" tIns="0" lIns="0" bIns="0" rIns="0">
            <a:spAutoFit/>
          </a:bodyPr>
          <a:lstStyle/>
          <a:p>
            <a:pPr algn="ctr">
              <a:lnSpc>
                <a:spcPts val="4619"/>
              </a:lnSpc>
            </a:pPr>
            <a:r>
              <a:rPr lang="en-US" sz="3299" b="true">
                <a:solidFill>
                  <a:srgbClr val="78553F"/>
                </a:solidFill>
                <a:latin typeface="Helvetica World Bold"/>
                <a:ea typeface="Helvetica World Bold"/>
                <a:cs typeface="Helvetica World Bold"/>
                <a:sym typeface="Helvetica World Bold"/>
              </a:rPr>
              <a:t>CLEAR ORDER BUTTON</a:t>
            </a:r>
          </a:p>
          <a:p>
            <a:pPr algn="ctr">
              <a:lnSpc>
                <a:spcPts val="4619"/>
              </a:lnSpc>
            </a:pPr>
          </a:p>
          <a:p>
            <a:pPr algn="ctr">
              <a:lnSpc>
                <a:spcPts val="4619"/>
              </a:lnSpc>
            </a:pPr>
            <a:r>
              <a:rPr lang="en-US" sz="3299">
                <a:solidFill>
                  <a:srgbClr val="512615"/>
                </a:solidFill>
                <a:latin typeface="Helvetica World"/>
                <a:ea typeface="Helvetica World"/>
                <a:cs typeface="Helvetica World"/>
                <a:sym typeface="Helvetica World"/>
              </a:rPr>
              <a:t>The "Clear Order" button allows users to quickly remove all selected items from their current order. Whether the customer changes their mind or wants to start a new order from scratch, this button resets the order form to its initial state with a single click.</a:t>
            </a:r>
          </a:p>
          <a:p>
            <a:pPr algn="ctr">
              <a:lnSpc>
                <a:spcPts val="461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5880326" y="1809544"/>
            <a:ext cx="6007639" cy="2724369"/>
          </a:xfrm>
          <a:custGeom>
            <a:avLst/>
            <a:gdLst/>
            <a:ahLst/>
            <a:cxnLst/>
            <a:rect r="r" b="b" t="t" l="l"/>
            <a:pathLst>
              <a:path h="2724369" w="6007639">
                <a:moveTo>
                  <a:pt x="0" y="0"/>
                </a:moveTo>
                <a:lnTo>
                  <a:pt x="6007638" y="0"/>
                </a:lnTo>
                <a:lnTo>
                  <a:pt x="6007638" y="2724369"/>
                </a:lnTo>
                <a:lnTo>
                  <a:pt x="0" y="2724369"/>
                </a:lnTo>
                <a:lnTo>
                  <a:pt x="0" y="0"/>
                </a:lnTo>
                <a:close/>
              </a:path>
            </a:pathLst>
          </a:custGeom>
          <a:blipFill>
            <a:blip r:embed="rId2"/>
            <a:stretch>
              <a:fillRect l="-4642" t="-10823" r="-3415" b="-17588"/>
            </a:stretch>
          </a:blipFill>
        </p:spPr>
      </p:sp>
      <p:sp>
        <p:nvSpPr>
          <p:cNvPr name="TextBox 3" id="3"/>
          <p:cNvSpPr txBox="true"/>
          <p:nvPr/>
        </p:nvSpPr>
        <p:spPr>
          <a:xfrm rot="0">
            <a:off x="1905291" y="455294"/>
            <a:ext cx="13915098" cy="573406"/>
          </a:xfrm>
          <a:prstGeom prst="rect">
            <a:avLst/>
          </a:prstGeom>
        </p:spPr>
        <p:txBody>
          <a:bodyPr anchor="t" rtlCol="false" tIns="0" lIns="0" bIns="0" rIns="0">
            <a:spAutoFit/>
          </a:bodyPr>
          <a:lstStyle/>
          <a:p>
            <a:pPr algn="ctr">
              <a:lnSpc>
                <a:spcPts val="4619"/>
              </a:lnSpc>
              <a:spcBef>
                <a:spcPct val="0"/>
              </a:spcBef>
            </a:pPr>
            <a:r>
              <a:rPr lang="en-US" sz="3299">
                <a:solidFill>
                  <a:srgbClr val="512615"/>
                </a:solidFill>
                <a:latin typeface="Norwester"/>
                <a:ea typeface="Norwester"/>
                <a:cs typeface="Norwester"/>
                <a:sym typeface="Norwester"/>
              </a:rPr>
              <a:t>Order FInIshed</a:t>
            </a:r>
          </a:p>
        </p:txBody>
      </p:sp>
      <p:sp>
        <p:nvSpPr>
          <p:cNvPr name="TextBox 4" id="4"/>
          <p:cNvSpPr txBox="true"/>
          <p:nvPr/>
        </p:nvSpPr>
        <p:spPr>
          <a:xfrm rot="0">
            <a:off x="656365" y="5300216"/>
            <a:ext cx="16975269" cy="4098291"/>
          </a:xfrm>
          <a:prstGeom prst="rect">
            <a:avLst/>
          </a:prstGeom>
        </p:spPr>
        <p:txBody>
          <a:bodyPr anchor="t" rtlCol="false" tIns="0" lIns="0" bIns="0" rIns="0">
            <a:spAutoFit/>
          </a:bodyPr>
          <a:lstStyle/>
          <a:p>
            <a:pPr algn="ctr">
              <a:lnSpc>
                <a:spcPts val="4059"/>
              </a:lnSpc>
            </a:pPr>
            <a:r>
              <a:rPr lang="en-US" sz="2899">
                <a:solidFill>
                  <a:srgbClr val="78553F"/>
                </a:solidFill>
                <a:latin typeface="Helvetica World"/>
                <a:ea typeface="Helvetica World"/>
                <a:cs typeface="Helvetica World"/>
                <a:sym typeface="Helvetica World"/>
              </a:rPr>
              <a:t>Confirmation Message</a:t>
            </a:r>
          </a:p>
          <a:p>
            <a:pPr algn="ctr">
              <a:lnSpc>
                <a:spcPts val="4059"/>
              </a:lnSpc>
            </a:pPr>
          </a:p>
          <a:p>
            <a:pPr algn="ctr">
              <a:lnSpc>
                <a:spcPts val="4059"/>
              </a:lnSpc>
            </a:pPr>
            <a:r>
              <a:rPr lang="en-US" sz="2899">
                <a:solidFill>
                  <a:srgbClr val="78553F"/>
                </a:solidFill>
                <a:latin typeface="Helvetica World"/>
                <a:ea typeface="Helvetica World"/>
                <a:cs typeface="Helvetica World"/>
                <a:sym typeface="Helvetica World"/>
              </a:rPr>
              <a:t>After the user clicks “Finish Orders” and the order is successfully completed,</a:t>
            </a:r>
          </a:p>
          <a:p>
            <a:pPr algn="ctr">
              <a:lnSpc>
                <a:spcPts val="4059"/>
              </a:lnSpc>
            </a:pPr>
            <a:r>
              <a:rPr lang="en-US" sz="2899">
                <a:solidFill>
                  <a:srgbClr val="78553F"/>
                </a:solidFill>
                <a:latin typeface="Helvetica World"/>
                <a:ea typeface="Helvetica World"/>
                <a:cs typeface="Helvetica World"/>
                <a:sym typeface="Helvetica World"/>
              </a:rPr>
              <a:t>a pop-up message appears:</a:t>
            </a:r>
          </a:p>
          <a:p>
            <a:pPr algn="ctr">
              <a:lnSpc>
                <a:spcPts val="4059"/>
              </a:lnSpc>
            </a:pPr>
            <a:r>
              <a:rPr lang="en-US" sz="2899">
                <a:solidFill>
                  <a:srgbClr val="78553F"/>
                </a:solidFill>
                <a:latin typeface="Helvetica World"/>
                <a:ea typeface="Helvetica World"/>
                <a:cs typeface="Helvetica World"/>
                <a:sym typeface="Helvetica World"/>
              </a:rPr>
              <a:t>“Your order is made! Receipt is saved on desktop.”</a:t>
            </a:r>
          </a:p>
          <a:p>
            <a:pPr algn="ctr">
              <a:lnSpc>
                <a:spcPts val="4059"/>
              </a:lnSpc>
            </a:pPr>
            <a:r>
              <a:rPr lang="en-US" sz="2899">
                <a:solidFill>
                  <a:srgbClr val="78553F"/>
                </a:solidFill>
                <a:latin typeface="Helvetica World"/>
                <a:ea typeface="Helvetica World"/>
                <a:cs typeface="Helvetica World"/>
                <a:sym typeface="Helvetica World"/>
              </a:rPr>
              <a:t>This confirms that the order has been placed and the receipt has been saved as a PDF file on the user’s desktop.</a:t>
            </a:r>
          </a:p>
          <a:p>
            <a:pPr algn="ctr">
              <a:lnSpc>
                <a:spcPts val="4059"/>
              </a:lnSpc>
              <a:spcBef>
                <a:spcPct val="0"/>
              </a:spcBef>
            </a:pPr>
            <a:r>
              <a:rPr lang="en-US" sz="2899">
                <a:solidFill>
                  <a:srgbClr val="78553F"/>
                </a:solidFill>
                <a:latin typeface="Helvetica World"/>
                <a:ea typeface="Helvetica World"/>
                <a:cs typeface="Helvetica World"/>
                <a:sym typeface="Helvetica World"/>
              </a:rPr>
              <a:t>This message provides feedback to the user and improves the interaction flow.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296927" y="2201925"/>
            <a:ext cx="8392322" cy="5883150"/>
          </a:xfrm>
          <a:custGeom>
            <a:avLst/>
            <a:gdLst/>
            <a:ahLst/>
            <a:cxnLst/>
            <a:rect r="r" b="b" t="t" l="l"/>
            <a:pathLst>
              <a:path h="5883150" w="8392322">
                <a:moveTo>
                  <a:pt x="0" y="0"/>
                </a:moveTo>
                <a:lnTo>
                  <a:pt x="8392321" y="0"/>
                </a:lnTo>
                <a:lnTo>
                  <a:pt x="8392321" y="5883150"/>
                </a:lnTo>
                <a:lnTo>
                  <a:pt x="0" y="5883150"/>
                </a:lnTo>
                <a:lnTo>
                  <a:pt x="0" y="0"/>
                </a:lnTo>
                <a:close/>
              </a:path>
            </a:pathLst>
          </a:custGeom>
          <a:blipFill>
            <a:blip r:embed="rId2"/>
            <a:stretch>
              <a:fillRect l="-54689" t="0" r="-23000" b="-39728"/>
            </a:stretch>
          </a:blipFill>
        </p:spPr>
      </p:sp>
      <p:sp>
        <p:nvSpPr>
          <p:cNvPr name="TextBox 3" id="3"/>
          <p:cNvSpPr txBox="true"/>
          <p:nvPr/>
        </p:nvSpPr>
        <p:spPr>
          <a:xfrm rot="0">
            <a:off x="1905291" y="455294"/>
            <a:ext cx="13915098" cy="573406"/>
          </a:xfrm>
          <a:prstGeom prst="rect">
            <a:avLst/>
          </a:prstGeom>
        </p:spPr>
        <p:txBody>
          <a:bodyPr anchor="t" rtlCol="false" tIns="0" lIns="0" bIns="0" rIns="0">
            <a:spAutoFit/>
          </a:bodyPr>
          <a:lstStyle/>
          <a:p>
            <a:pPr algn="ctr">
              <a:lnSpc>
                <a:spcPts val="4619"/>
              </a:lnSpc>
              <a:spcBef>
                <a:spcPct val="0"/>
              </a:spcBef>
            </a:pPr>
            <a:r>
              <a:rPr lang="en-US" sz="3299">
                <a:solidFill>
                  <a:srgbClr val="512615"/>
                </a:solidFill>
                <a:latin typeface="Norwester"/>
                <a:ea typeface="Norwester"/>
                <a:cs typeface="Norwester"/>
                <a:sym typeface="Norwester"/>
              </a:rPr>
              <a:t>Cafe Order RecIpt</a:t>
            </a:r>
          </a:p>
        </p:txBody>
      </p:sp>
      <p:sp>
        <p:nvSpPr>
          <p:cNvPr name="TextBox 4" id="4"/>
          <p:cNvSpPr txBox="true"/>
          <p:nvPr/>
        </p:nvSpPr>
        <p:spPr>
          <a:xfrm rot="0">
            <a:off x="9652334" y="1747111"/>
            <a:ext cx="7825153" cy="7750122"/>
          </a:xfrm>
          <a:prstGeom prst="rect">
            <a:avLst/>
          </a:prstGeom>
        </p:spPr>
        <p:txBody>
          <a:bodyPr anchor="t" rtlCol="false" tIns="0" lIns="0" bIns="0" rIns="0">
            <a:spAutoFit/>
          </a:bodyPr>
          <a:lstStyle/>
          <a:p>
            <a:pPr algn="ctr">
              <a:lnSpc>
                <a:spcPts val="3852"/>
              </a:lnSpc>
            </a:pPr>
            <a:r>
              <a:rPr lang="en-US" sz="2752">
                <a:solidFill>
                  <a:srgbClr val="78553F"/>
                </a:solidFill>
                <a:latin typeface="Helvetica World"/>
                <a:ea typeface="Helvetica World"/>
                <a:cs typeface="Helvetica World"/>
                <a:sym typeface="Helvetica World"/>
              </a:rPr>
              <a:t>This is the PDF file that is automatically generated after each completed order.</a:t>
            </a:r>
          </a:p>
          <a:p>
            <a:pPr algn="ctr">
              <a:lnSpc>
                <a:spcPts val="3852"/>
              </a:lnSpc>
            </a:pPr>
            <a:r>
              <a:rPr lang="en-US" sz="2752">
                <a:solidFill>
                  <a:srgbClr val="78553F"/>
                </a:solidFill>
                <a:latin typeface="Helvetica World"/>
                <a:ea typeface="Helvetica World"/>
                <a:cs typeface="Helvetica World"/>
                <a:sym typeface="Helvetica World"/>
              </a:rPr>
              <a:t>It includes:</a:t>
            </a:r>
          </a:p>
          <a:p>
            <a:pPr algn="ctr">
              <a:lnSpc>
                <a:spcPts val="3852"/>
              </a:lnSpc>
            </a:pPr>
          </a:p>
          <a:p>
            <a:pPr algn="ctr" marL="594177" indent="-297089" lvl="1">
              <a:lnSpc>
                <a:spcPts val="3852"/>
              </a:lnSpc>
              <a:buFont typeface="Arial"/>
              <a:buChar char="•"/>
            </a:pPr>
            <a:r>
              <a:rPr lang="en-US" sz="2752">
                <a:solidFill>
                  <a:srgbClr val="78553F"/>
                </a:solidFill>
                <a:latin typeface="Helvetica World"/>
                <a:ea typeface="Helvetica World"/>
                <a:cs typeface="Helvetica World"/>
                <a:sym typeface="Helvetica World"/>
              </a:rPr>
              <a:t>🆔 Order Number</a:t>
            </a:r>
          </a:p>
          <a:p>
            <a:pPr algn="ctr" marL="594177" indent="-297089" lvl="1">
              <a:lnSpc>
                <a:spcPts val="3852"/>
              </a:lnSpc>
              <a:buFont typeface="Arial"/>
              <a:buChar char="•"/>
            </a:pPr>
            <a:r>
              <a:rPr lang="en-US" sz="2752">
                <a:solidFill>
                  <a:srgbClr val="78553F"/>
                </a:solidFill>
                <a:latin typeface="Helvetica World"/>
                <a:ea typeface="Helvetica World"/>
                <a:cs typeface="Helvetica World"/>
                <a:sym typeface="Helvetica World"/>
              </a:rPr>
              <a:t>🕒 Date and Time</a:t>
            </a:r>
          </a:p>
          <a:p>
            <a:pPr algn="ctr" marL="594177" indent="-297089" lvl="1">
              <a:lnSpc>
                <a:spcPts val="3852"/>
              </a:lnSpc>
              <a:buFont typeface="Arial"/>
              <a:buChar char="•"/>
            </a:pPr>
            <a:r>
              <a:rPr lang="en-US" sz="2752">
                <a:solidFill>
                  <a:srgbClr val="78553F"/>
                </a:solidFill>
                <a:latin typeface="Helvetica World"/>
                <a:ea typeface="Helvetica World"/>
                <a:cs typeface="Helvetica World"/>
                <a:sym typeface="Helvetica World"/>
              </a:rPr>
              <a:t>📍 Delivery Address</a:t>
            </a:r>
          </a:p>
          <a:p>
            <a:pPr algn="ctr" marL="594177" indent="-297089" lvl="1">
              <a:lnSpc>
                <a:spcPts val="3852"/>
              </a:lnSpc>
              <a:buFont typeface="Arial"/>
              <a:buChar char="•"/>
            </a:pPr>
            <a:r>
              <a:rPr lang="en-US" sz="2752">
                <a:solidFill>
                  <a:srgbClr val="78553F"/>
                </a:solidFill>
                <a:latin typeface="Helvetica World"/>
                <a:ea typeface="Helvetica World"/>
                <a:cs typeface="Helvetica World"/>
                <a:sym typeface="Helvetica World"/>
              </a:rPr>
              <a:t>🍽 Product list with prices, quantities, and totals</a:t>
            </a:r>
          </a:p>
          <a:p>
            <a:pPr algn="ctr" marL="594177" indent="-297089" lvl="1">
              <a:lnSpc>
                <a:spcPts val="3852"/>
              </a:lnSpc>
              <a:buFont typeface="Arial"/>
              <a:buChar char="•"/>
            </a:pPr>
            <a:r>
              <a:rPr lang="en-US" sz="2752">
                <a:solidFill>
                  <a:srgbClr val="78553F"/>
                </a:solidFill>
                <a:latin typeface="Helvetica World"/>
                <a:ea typeface="Helvetica World"/>
                <a:cs typeface="Helvetica World"/>
                <a:sym typeface="Helvetica World"/>
              </a:rPr>
              <a:t>💰 Final total price</a:t>
            </a:r>
          </a:p>
          <a:p>
            <a:pPr algn="ctr">
              <a:lnSpc>
                <a:spcPts val="3852"/>
              </a:lnSpc>
            </a:pPr>
          </a:p>
          <a:p>
            <a:pPr algn="ctr">
              <a:lnSpc>
                <a:spcPts val="3852"/>
              </a:lnSpc>
            </a:pPr>
          </a:p>
          <a:p>
            <a:pPr algn="ctr">
              <a:lnSpc>
                <a:spcPts val="3852"/>
              </a:lnSpc>
            </a:pPr>
            <a:r>
              <a:rPr lang="en-US" sz="2752">
                <a:solidFill>
                  <a:srgbClr val="78553F"/>
                </a:solidFill>
                <a:latin typeface="Helvetica World"/>
                <a:ea typeface="Helvetica World"/>
                <a:cs typeface="Helvetica World"/>
                <a:sym typeface="Helvetica World"/>
              </a:rPr>
              <a:t>The PDF format is created using the iText library in Java and saved directly to the user’s desktop, providing a real, printable receipt.</a:t>
            </a:r>
          </a:p>
          <a:p>
            <a:pPr algn="ctr">
              <a:lnSpc>
                <a:spcPts val="3852"/>
              </a:lnSpc>
            </a:pPr>
          </a:p>
          <a:p>
            <a:pPr algn="ctr">
              <a:lnSpc>
                <a:spcPts val="3852"/>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042336"/>
            <a:ext cx="7338708" cy="4900905"/>
          </a:xfrm>
          <a:custGeom>
            <a:avLst/>
            <a:gdLst/>
            <a:ahLst/>
            <a:cxnLst/>
            <a:rect r="r" b="b" t="t" l="l"/>
            <a:pathLst>
              <a:path h="4900905" w="7338708">
                <a:moveTo>
                  <a:pt x="0" y="0"/>
                </a:moveTo>
                <a:lnTo>
                  <a:pt x="7338708" y="0"/>
                </a:lnTo>
                <a:lnTo>
                  <a:pt x="7338708" y="4900905"/>
                </a:lnTo>
                <a:lnTo>
                  <a:pt x="0" y="4900905"/>
                </a:lnTo>
                <a:lnTo>
                  <a:pt x="0" y="0"/>
                </a:lnTo>
                <a:close/>
              </a:path>
            </a:pathLst>
          </a:custGeom>
          <a:blipFill>
            <a:blip r:embed="rId2"/>
            <a:stretch>
              <a:fillRect l="0" t="-1304" r="0" b="0"/>
            </a:stretch>
          </a:blipFill>
        </p:spPr>
      </p:sp>
      <p:sp>
        <p:nvSpPr>
          <p:cNvPr name="TextBox 3" id="3"/>
          <p:cNvSpPr txBox="true"/>
          <p:nvPr/>
        </p:nvSpPr>
        <p:spPr>
          <a:xfrm rot="0">
            <a:off x="8826347" y="3718803"/>
            <a:ext cx="8691290" cy="580391"/>
          </a:xfrm>
          <a:prstGeom prst="rect">
            <a:avLst/>
          </a:prstGeom>
        </p:spPr>
        <p:txBody>
          <a:bodyPr anchor="t" rtlCol="false" tIns="0" lIns="0" bIns="0" rIns="0">
            <a:spAutoFit/>
          </a:bodyPr>
          <a:lstStyle/>
          <a:p>
            <a:pPr algn="ctr">
              <a:lnSpc>
                <a:spcPts val="4759"/>
              </a:lnSpc>
              <a:spcBef>
                <a:spcPct val="0"/>
              </a:spcBef>
            </a:pPr>
            <a:r>
              <a:rPr lang="en-US" b="true" sz="3399">
                <a:solidFill>
                  <a:srgbClr val="78553F"/>
                </a:solidFill>
                <a:latin typeface="Canva Sans Bold"/>
                <a:ea typeface="Canva Sans Bold"/>
                <a:cs typeface="Canva Sans Bold"/>
                <a:sym typeface="Canva Sans Bold"/>
              </a:rPr>
              <a:t>Management Main Page</a:t>
            </a:r>
          </a:p>
        </p:txBody>
      </p:sp>
      <p:sp>
        <p:nvSpPr>
          <p:cNvPr name="TextBox 4" id="4"/>
          <p:cNvSpPr txBox="true"/>
          <p:nvPr/>
        </p:nvSpPr>
        <p:spPr>
          <a:xfrm rot="0">
            <a:off x="9502637" y="5279304"/>
            <a:ext cx="7338708" cy="2369821"/>
          </a:xfrm>
          <a:prstGeom prst="rect">
            <a:avLst/>
          </a:prstGeom>
        </p:spPr>
        <p:txBody>
          <a:bodyPr anchor="t" rtlCol="false" tIns="0" lIns="0" bIns="0" rIns="0">
            <a:spAutoFit/>
          </a:bodyPr>
          <a:lstStyle/>
          <a:p>
            <a:pPr algn="ctr">
              <a:lnSpc>
                <a:spcPts val="3779"/>
              </a:lnSpc>
              <a:spcBef>
                <a:spcPct val="0"/>
              </a:spcBef>
            </a:pPr>
            <a:r>
              <a:rPr lang="en-US" sz="2699">
                <a:solidFill>
                  <a:srgbClr val="78553F"/>
                </a:solidFill>
                <a:latin typeface="Canva Sans"/>
                <a:ea typeface="Canva Sans"/>
                <a:cs typeface="Canva Sans"/>
                <a:sym typeface="Canva Sans"/>
              </a:rPr>
              <a:t>This   is the main page of management , We have manager management , staff management , supplier management and sales management. This page  has buttons to go to those pages.</a:t>
            </a:r>
          </a:p>
        </p:txBody>
      </p:sp>
      <p:sp>
        <p:nvSpPr>
          <p:cNvPr name="TextBox 5" id="5"/>
          <p:cNvSpPr txBox="true"/>
          <p:nvPr/>
        </p:nvSpPr>
        <p:spPr>
          <a:xfrm rot="0">
            <a:off x="1028700" y="1266825"/>
            <a:ext cx="5501580" cy="1621048"/>
          </a:xfrm>
          <a:prstGeom prst="rect">
            <a:avLst/>
          </a:prstGeom>
        </p:spPr>
        <p:txBody>
          <a:bodyPr anchor="t" rtlCol="false" tIns="0" lIns="0" bIns="0" rIns="0">
            <a:spAutoFit/>
          </a:bodyPr>
          <a:lstStyle/>
          <a:p>
            <a:pPr algn="l">
              <a:lnSpc>
                <a:spcPts val="6032"/>
              </a:lnSpc>
            </a:pPr>
            <a:r>
              <a:rPr lang="en-US" sz="7181" spc="-287">
                <a:solidFill>
                  <a:srgbClr val="78553F"/>
                </a:solidFill>
                <a:latin typeface="Norwester"/>
                <a:ea typeface="Norwester"/>
                <a:cs typeface="Norwester"/>
                <a:sym typeface="Norwester"/>
              </a:rPr>
              <a:t>MANAGER INTERFACE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122838" y="2579560"/>
            <a:ext cx="8479738" cy="4981240"/>
          </a:xfrm>
          <a:custGeom>
            <a:avLst/>
            <a:gdLst/>
            <a:ahLst/>
            <a:cxnLst/>
            <a:rect r="r" b="b" t="t" l="l"/>
            <a:pathLst>
              <a:path h="4981240" w="8479738">
                <a:moveTo>
                  <a:pt x="0" y="0"/>
                </a:moveTo>
                <a:lnTo>
                  <a:pt x="8479738" y="0"/>
                </a:lnTo>
                <a:lnTo>
                  <a:pt x="8479738" y="4981240"/>
                </a:lnTo>
                <a:lnTo>
                  <a:pt x="0" y="4981240"/>
                </a:lnTo>
                <a:lnTo>
                  <a:pt x="0" y="0"/>
                </a:lnTo>
                <a:close/>
              </a:path>
            </a:pathLst>
          </a:custGeom>
          <a:blipFill>
            <a:blip r:embed="rId2"/>
            <a:stretch>
              <a:fillRect l="0" t="0" r="0" b="0"/>
            </a:stretch>
          </a:blipFill>
        </p:spPr>
      </p:sp>
      <p:sp>
        <p:nvSpPr>
          <p:cNvPr name="TextBox 3" id="3"/>
          <p:cNvSpPr txBox="true"/>
          <p:nvPr/>
        </p:nvSpPr>
        <p:spPr>
          <a:xfrm rot="0">
            <a:off x="5406210" y="981075"/>
            <a:ext cx="6392732" cy="511811"/>
          </a:xfrm>
          <a:prstGeom prst="rect">
            <a:avLst/>
          </a:prstGeom>
        </p:spPr>
        <p:txBody>
          <a:bodyPr anchor="t" rtlCol="false" tIns="0" lIns="0" bIns="0" rIns="0">
            <a:spAutoFit/>
          </a:bodyPr>
          <a:lstStyle/>
          <a:p>
            <a:pPr algn="ctr">
              <a:lnSpc>
                <a:spcPts val="4339"/>
              </a:lnSpc>
              <a:spcBef>
                <a:spcPct val="0"/>
              </a:spcBef>
            </a:pPr>
            <a:r>
              <a:rPr lang="en-US" b="true" sz="3099">
                <a:solidFill>
                  <a:srgbClr val="78553F"/>
                </a:solidFill>
                <a:latin typeface="Canva Sans Bold"/>
                <a:ea typeface="Canva Sans Bold"/>
                <a:cs typeface="Canva Sans Bold"/>
                <a:sym typeface="Canva Sans Bold"/>
              </a:rPr>
              <a:t>Staff Management</a:t>
            </a:r>
          </a:p>
        </p:txBody>
      </p:sp>
      <p:grpSp>
        <p:nvGrpSpPr>
          <p:cNvPr name="Group 4" id="4"/>
          <p:cNvGrpSpPr/>
          <p:nvPr/>
        </p:nvGrpSpPr>
        <p:grpSpPr>
          <a:xfrm rot="0">
            <a:off x="8852207" y="2398150"/>
            <a:ext cx="9317654" cy="5739462"/>
            <a:chOff x="0" y="0"/>
            <a:chExt cx="2454032" cy="1511628"/>
          </a:xfrm>
        </p:grpSpPr>
        <p:sp>
          <p:nvSpPr>
            <p:cNvPr name="Freeform 5" id="5"/>
            <p:cNvSpPr/>
            <p:nvPr/>
          </p:nvSpPr>
          <p:spPr>
            <a:xfrm flipH="false" flipV="false" rot="0">
              <a:off x="0" y="0"/>
              <a:ext cx="2454032" cy="1511628"/>
            </a:xfrm>
            <a:custGeom>
              <a:avLst/>
              <a:gdLst/>
              <a:ahLst/>
              <a:cxnLst/>
              <a:rect r="r" b="b" t="t" l="l"/>
              <a:pathLst>
                <a:path h="1511628" w="2454032">
                  <a:moveTo>
                    <a:pt x="0" y="0"/>
                  </a:moveTo>
                  <a:lnTo>
                    <a:pt x="2454032" y="0"/>
                  </a:lnTo>
                  <a:lnTo>
                    <a:pt x="2454032" y="1511628"/>
                  </a:lnTo>
                  <a:lnTo>
                    <a:pt x="0" y="1511628"/>
                  </a:lnTo>
                  <a:close/>
                </a:path>
              </a:pathLst>
            </a:custGeom>
            <a:solidFill>
              <a:srgbClr val="78553F"/>
            </a:solidFill>
          </p:spPr>
        </p:sp>
        <p:sp>
          <p:nvSpPr>
            <p:cNvPr name="TextBox 6" id="6"/>
            <p:cNvSpPr txBox="true"/>
            <p:nvPr/>
          </p:nvSpPr>
          <p:spPr>
            <a:xfrm>
              <a:off x="0" y="-38100"/>
              <a:ext cx="2454032" cy="1549728"/>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9021464" y="2536936"/>
            <a:ext cx="9148397" cy="2072640"/>
          </a:xfrm>
          <a:prstGeom prst="rect">
            <a:avLst/>
          </a:prstGeom>
        </p:spPr>
        <p:txBody>
          <a:bodyPr anchor="t" rtlCol="false" tIns="0" lIns="0" bIns="0" rIns="0">
            <a:spAutoFit/>
          </a:bodyPr>
          <a:lstStyle/>
          <a:p>
            <a:pPr algn="ctr">
              <a:lnSpc>
                <a:spcPts val="3359"/>
              </a:lnSpc>
              <a:spcBef>
                <a:spcPct val="0"/>
              </a:spcBef>
            </a:pPr>
            <a:r>
              <a:rPr lang="en-US" sz="2399">
                <a:solidFill>
                  <a:srgbClr val="FFFCEE"/>
                </a:solidFill>
                <a:latin typeface="Canva Sans"/>
                <a:ea typeface="Canva Sans"/>
                <a:cs typeface="Canva Sans"/>
                <a:sym typeface="Canva Sans"/>
              </a:rPr>
              <a:t>In Staff Management,  We have  3 functionallities . The first one is adding a staff . To add a new staff we add name , email and wage .We choose the position of a staff  from the positions  the cafe has than  by clicking the add button, the user will be saved to staff table.  </a:t>
            </a:r>
          </a:p>
        </p:txBody>
      </p:sp>
      <p:sp>
        <p:nvSpPr>
          <p:cNvPr name="TextBox 8" id="8"/>
          <p:cNvSpPr txBox="true"/>
          <p:nvPr/>
        </p:nvSpPr>
        <p:spPr>
          <a:xfrm rot="0">
            <a:off x="9722447" y="5647802"/>
            <a:ext cx="7746431" cy="1589405"/>
          </a:xfrm>
          <a:prstGeom prst="rect">
            <a:avLst/>
          </a:prstGeom>
        </p:spPr>
        <p:txBody>
          <a:bodyPr anchor="t" rtlCol="false" tIns="0" lIns="0" bIns="0" rIns="0">
            <a:spAutoFit/>
          </a:bodyPr>
          <a:lstStyle/>
          <a:p>
            <a:pPr algn="ctr">
              <a:lnSpc>
                <a:spcPts val="3219"/>
              </a:lnSpc>
              <a:spcBef>
                <a:spcPct val="0"/>
              </a:spcBef>
            </a:pPr>
            <a:r>
              <a:rPr lang="en-US" sz="2299">
                <a:solidFill>
                  <a:srgbClr val="FFFCEE"/>
                </a:solidFill>
                <a:latin typeface="Canva Sans"/>
                <a:ea typeface="Canva Sans"/>
                <a:cs typeface="Canva Sans"/>
                <a:sym typeface="Canva Sans"/>
              </a:rPr>
              <a:t>From delete staff part , we can  write the name and choose the position of a staff we want to delete by clicking the delete button the  staff wil be deleted from staff table.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590356" y="514350"/>
            <a:ext cx="6342430" cy="9258300"/>
          </a:xfrm>
          <a:custGeom>
            <a:avLst/>
            <a:gdLst/>
            <a:ahLst/>
            <a:cxnLst/>
            <a:rect r="r" b="b" t="t" l="l"/>
            <a:pathLst>
              <a:path h="9258300" w="6342430">
                <a:moveTo>
                  <a:pt x="0" y="0"/>
                </a:moveTo>
                <a:lnTo>
                  <a:pt x="6342430" y="0"/>
                </a:lnTo>
                <a:lnTo>
                  <a:pt x="6342430" y="9258300"/>
                </a:lnTo>
                <a:lnTo>
                  <a:pt x="0" y="9258300"/>
                </a:lnTo>
                <a:lnTo>
                  <a:pt x="0" y="0"/>
                </a:lnTo>
                <a:close/>
              </a:path>
            </a:pathLst>
          </a:custGeom>
          <a:blipFill>
            <a:blip r:embed="rId2"/>
            <a:stretch>
              <a:fillRect l="-164068" t="0" r="-3574" b="-6113"/>
            </a:stretch>
          </a:blipFill>
        </p:spPr>
      </p:sp>
      <p:sp>
        <p:nvSpPr>
          <p:cNvPr name="TextBox 3" id="3"/>
          <p:cNvSpPr txBox="true"/>
          <p:nvPr/>
        </p:nvSpPr>
        <p:spPr>
          <a:xfrm rot="0">
            <a:off x="8715653" y="2435767"/>
            <a:ext cx="6763909" cy="4415310"/>
          </a:xfrm>
          <a:prstGeom prst="rect">
            <a:avLst/>
          </a:prstGeom>
        </p:spPr>
        <p:txBody>
          <a:bodyPr anchor="t" rtlCol="false" tIns="0" lIns="0" bIns="0" rIns="0">
            <a:spAutoFit/>
          </a:bodyPr>
          <a:lstStyle/>
          <a:p>
            <a:pPr algn="ctr">
              <a:lnSpc>
                <a:spcPts val="5034"/>
              </a:lnSpc>
              <a:spcBef>
                <a:spcPct val="0"/>
              </a:spcBef>
            </a:pPr>
            <a:r>
              <a:rPr lang="en-US" sz="3595">
                <a:solidFill>
                  <a:srgbClr val="78553F"/>
                </a:solidFill>
                <a:latin typeface="Canva Sans"/>
                <a:ea typeface="Canva Sans"/>
                <a:cs typeface="Canva Sans"/>
                <a:sym typeface="Canva Sans"/>
              </a:rPr>
              <a:t> From show staff part, we can choose a positions to see each staff on that posittion and their information by clicking the show button . We have the name, position , email ,and wage of the staff to show .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TextBox 2" id="2"/>
          <p:cNvSpPr txBox="true"/>
          <p:nvPr/>
        </p:nvSpPr>
        <p:spPr>
          <a:xfrm rot="0">
            <a:off x="6861928" y="687387"/>
            <a:ext cx="4147423" cy="606426"/>
          </a:xfrm>
          <a:prstGeom prst="rect">
            <a:avLst/>
          </a:prstGeom>
        </p:spPr>
        <p:txBody>
          <a:bodyPr anchor="t" rtlCol="false" tIns="0" lIns="0" bIns="0" rIns="0">
            <a:spAutoFit/>
          </a:bodyPr>
          <a:lstStyle/>
          <a:p>
            <a:pPr algn="ctr">
              <a:lnSpc>
                <a:spcPts val="4899"/>
              </a:lnSpc>
              <a:spcBef>
                <a:spcPct val="0"/>
              </a:spcBef>
            </a:pPr>
            <a:r>
              <a:rPr lang="en-US" sz="3499">
                <a:solidFill>
                  <a:srgbClr val="512615"/>
                </a:solidFill>
                <a:latin typeface="Norwester"/>
                <a:ea typeface="Norwester"/>
                <a:cs typeface="Norwester"/>
                <a:sym typeface="Norwester"/>
              </a:rPr>
              <a:t>Supplier Management</a:t>
            </a:r>
          </a:p>
        </p:txBody>
      </p:sp>
      <p:sp>
        <p:nvSpPr>
          <p:cNvPr name="Freeform 3" id="3"/>
          <p:cNvSpPr/>
          <p:nvPr/>
        </p:nvSpPr>
        <p:spPr>
          <a:xfrm flipH="false" flipV="false" rot="0">
            <a:off x="633105" y="2908961"/>
            <a:ext cx="7500135" cy="6349339"/>
          </a:xfrm>
          <a:custGeom>
            <a:avLst/>
            <a:gdLst/>
            <a:ahLst/>
            <a:cxnLst/>
            <a:rect r="r" b="b" t="t" l="l"/>
            <a:pathLst>
              <a:path h="6349339" w="7500135">
                <a:moveTo>
                  <a:pt x="0" y="0"/>
                </a:moveTo>
                <a:lnTo>
                  <a:pt x="7500135" y="0"/>
                </a:lnTo>
                <a:lnTo>
                  <a:pt x="7500135" y="6349339"/>
                </a:lnTo>
                <a:lnTo>
                  <a:pt x="0" y="6349339"/>
                </a:lnTo>
                <a:lnTo>
                  <a:pt x="0" y="0"/>
                </a:lnTo>
                <a:close/>
              </a:path>
            </a:pathLst>
          </a:custGeom>
          <a:blipFill>
            <a:blip r:embed="rId2"/>
            <a:stretch>
              <a:fillRect l="-388" t="0" r="-1944" b="0"/>
            </a:stretch>
          </a:blipFill>
        </p:spPr>
      </p:sp>
      <p:grpSp>
        <p:nvGrpSpPr>
          <p:cNvPr name="Group 4" id="4"/>
          <p:cNvGrpSpPr/>
          <p:nvPr/>
        </p:nvGrpSpPr>
        <p:grpSpPr>
          <a:xfrm rot="0">
            <a:off x="9425569" y="2679313"/>
            <a:ext cx="8215675" cy="6163382"/>
            <a:chOff x="0" y="0"/>
            <a:chExt cx="2163799" cy="1623277"/>
          </a:xfrm>
        </p:grpSpPr>
        <p:sp>
          <p:nvSpPr>
            <p:cNvPr name="Freeform 5" id="5"/>
            <p:cNvSpPr/>
            <p:nvPr/>
          </p:nvSpPr>
          <p:spPr>
            <a:xfrm flipH="false" flipV="false" rot="0">
              <a:off x="0" y="0"/>
              <a:ext cx="2163799" cy="1623277"/>
            </a:xfrm>
            <a:custGeom>
              <a:avLst/>
              <a:gdLst/>
              <a:ahLst/>
              <a:cxnLst/>
              <a:rect r="r" b="b" t="t" l="l"/>
              <a:pathLst>
                <a:path h="1623277" w="2163799">
                  <a:moveTo>
                    <a:pt x="0" y="0"/>
                  </a:moveTo>
                  <a:lnTo>
                    <a:pt x="2163799" y="0"/>
                  </a:lnTo>
                  <a:lnTo>
                    <a:pt x="2163799" y="1623277"/>
                  </a:lnTo>
                  <a:lnTo>
                    <a:pt x="0" y="1623277"/>
                  </a:lnTo>
                  <a:close/>
                </a:path>
              </a:pathLst>
            </a:custGeom>
            <a:solidFill>
              <a:srgbClr val="78553F"/>
            </a:solidFill>
          </p:spPr>
        </p:sp>
        <p:sp>
          <p:nvSpPr>
            <p:cNvPr name="TextBox 6" id="6"/>
            <p:cNvSpPr txBox="true"/>
            <p:nvPr/>
          </p:nvSpPr>
          <p:spPr>
            <a:xfrm>
              <a:off x="0" y="-38100"/>
              <a:ext cx="2163799" cy="1661377"/>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0222783" y="2901864"/>
            <a:ext cx="7036517" cy="5020311"/>
          </a:xfrm>
          <a:prstGeom prst="rect">
            <a:avLst/>
          </a:prstGeom>
        </p:spPr>
        <p:txBody>
          <a:bodyPr anchor="t" rtlCol="false" tIns="0" lIns="0" bIns="0" rIns="0">
            <a:spAutoFit/>
          </a:bodyPr>
          <a:lstStyle/>
          <a:p>
            <a:pPr algn="ctr">
              <a:lnSpc>
                <a:spcPts val="3639"/>
              </a:lnSpc>
              <a:spcBef>
                <a:spcPct val="0"/>
              </a:spcBef>
            </a:pPr>
            <a:r>
              <a:rPr lang="en-US" sz="2599">
                <a:solidFill>
                  <a:srgbClr val="FFFCEE"/>
                </a:solidFill>
                <a:latin typeface="Canva Sans"/>
                <a:ea typeface="Canva Sans"/>
                <a:cs typeface="Canva Sans"/>
                <a:sym typeface="Canva Sans"/>
              </a:rPr>
              <a:t> In this page , We have  adding a supplier part we enter the name and contact number of a supplier  and click on add supplier button to add suplier . To add a supplier the name and contact number are crucial . For deleting the supplier  just  name is enough the delete supplier button deletes the supplier from supplier table.  We have  suppliers  part, by clicking show suppliers  we list the suppliers as tabble with names and contact number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557474" y="3157482"/>
            <a:ext cx="8586526" cy="5084806"/>
          </a:xfrm>
          <a:custGeom>
            <a:avLst/>
            <a:gdLst/>
            <a:ahLst/>
            <a:cxnLst/>
            <a:rect r="r" b="b" t="t" l="l"/>
            <a:pathLst>
              <a:path h="5084806" w="8586526">
                <a:moveTo>
                  <a:pt x="0" y="0"/>
                </a:moveTo>
                <a:lnTo>
                  <a:pt x="8586526" y="0"/>
                </a:lnTo>
                <a:lnTo>
                  <a:pt x="8586526" y="5084806"/>
                </a:lnTo>
                <a:lnTo>
                  <a:pt x="0" y="5084806"/>
                </a:lnTo>
                <a:lnTo>
                  <a:pt x="0" y="0"/>
                </a:lnTo>
                <a:close/>
              </a:path>
            </a:pathLst>
          </a:custGeom>
          <a:blipFill>
            <a:blip r:embed="rId2"/>
            <a:stretch>
              <a:fillRect l="0" t="0" r="0" b="0"/>
            </a:stretch>
          </a:blipFill>
        </p:spPr>
      </p:sp>
      <p:sp>
        <p:nvSpPr>
          <p:cNvPr name="TextBox 3" id="3"/>
          <p:cNvSpPr txBox="true"/>
          <p:nvPr/>
        </p:nvSpPr>
        <p:spPr>
          <a:xfrm rot="0">
            <a:off x="3737390" y="942975"/>
            <a:ext cx="10050339" cy="688976"/>
          </a:xfrm>
          <a:prstGeom prst="rect">
            <a:avLst/>
          </a:prstGeom>
        </p:spPr>
        <p:txBody>
          <a:bodyPr anchor="t" rtlCol="false" tIns="0" lIns="0" bIns="0" rIns="0">
            <a:spAutoFit/>
          </a:bodyPr>
          <a:lstStyle/>
          <a:p>
            <a:pPr algn="ctr">
              <a:lnSpc>
                <a:spcPts val="5599"/>
              </a:lnSpc>
              <a:spcBef>
                <a:spcPct val="0"/>
              </a:spcBef>
            </a:pPr>
            <a:r>
              <a:rPr lang="en-US" sz="3999">
                <a:solidFill>
                  <a:srgbClr val="512615"/>
                </a:solidFill>
                <a:latin typeface="Norwester"/>
                <a:ea typeface="Norwester"/>
                <a:cs typeface="Norwester"/>
                <a:sym typeface="Norwester"/>
              </a:rPr>
              <a:t>Manager Management</a:t>
            </a:r>
          </a:p>
        </p:txBody>
      </p:sp>
      <p:sp>
        <p:nvSpPr>
          <p:cNvPr name="TextBox 4" id="4"/>
          <p:cNvSpPr txBox="true"/>
          <p:nvPr/>
        </p:nvSpPr>
        <p:spPr>
          <a:xfrm rot="0">
            <a:off x="9615226" y="3128907"/>
            <a:ext cx="8027427" cy="4251141"/>
          </a:xfrm>
          <a:prstGeom prst="rect">
            <a:avLst/>
          </a:prstGeom>
        </p:spPr>
        <p:txBody>
          <a:bodyPr anchor="t" rtlCol="false" tIns="0" lIns="0" bIns="0" rIns="0">
            <a:spAutoFit/>
          </a:bodyPr>
          <a:lstStyle/>
          <a:p>
            <a:pPr algn="ctr">
              <a:lnSpc>
                <a:spcPts val="2460"/>
              </a:lnSpc>
              <a:spcBef>
                <a:spcPct val="0"/>
              </a:spcBef>
            </a:pPr>
          </a:p>
          <a:p>
            <a:pPr algn="ctr">
              <a:lnSpc>
                <a:spcPts val="3300"/>
              </a:lnSpc>
              <a:spcBef>
                <a:spcPct val="0"/>
              </a:spcBef>
            </a:pPr>
            <a:r>
              <a:rPr lang="en-US" sz="2357">
                <a:solidFill>
                  <a:srgbClr val="78553F"/>
                </a:solidFill>
                <a:latin typeface="Helvetica World"/>
                <a:ea typeface="Helvetica World"/>
                <a:cs typeface="Helvetica World"/>
                <a:sym typeface="Helvetica World"/>
              </a:rPr>
              <a:t>➕ Add Manager:</a:t>
            </a:r>
          </a:p>
          <a:p>
            <a:pPr algn="ctr">
              <a:lnSpc>
                <a:spcPts val="3300"/>
              </a:lnSpc>
              <a:spcBef>
                <a:spcPct val="0"/>
              </a:spcBef>
            </a:pPr>
            <a:r>
              <a:rPr lang="en-US" sz="2357">
                <a:solidFill>
                  <a:srgbClr val="78553F"/>
                </a:solidFill>
                <a:latin typeface="Helvetica World"/>
                <a:ea typeface="Helvetica World"/>
                <a:cs typeface="Helvetica World"/>
                <a:sym typeface="Helvetica World"/>
              </a:rPr>
              <a:t>Managers can be added by entering name, email, phone number, and password.</a:t>
            </a:r>
          </a:p>
          <a:p>
            <a:pPr algn="ctr">
              <a:lnSpc>
                <a:spcPts val="3300"/>
              </a:lnSpc>
              <a:spcBef>
                <a:spcPct val="0"/>
              </a:spcBef>
            </a:pPr>
            <a:r>
              <a:rPr lang="en-US" sz="2357">
                <a:solidFill>
                  <a:srgbClr val="78553F"/>
                </a:solidFill>
                <a:latin typeface="Helvetica World"/>
                <a:ea typeface="Helvetica World"/>
                <a:cs typeface="Helvetica World"/>
                <a:sym typeface="Helvetica World"/>
              </a:rPr>
              <a:t>The manager is added to manager table  with these information.</a:t>
            </a:r>
          </a:p>
          <a:p>
            <a:pPr algn="ctr">
              <a:lnSpc>
                <a:spcPts val="3300"/>
              </a:lnSpc>
              <a:spcBef>
                <a:spcPct val="0"/>
              </a:spcBef>
            </a:pPr>
            <a:r>
              <a:rPr lang="en-US" sz="2357">
                <a:solidFill>
                  <a:srgbClr val="78553F"/>
                </a:solidFill>
                <a:latin typeface="Helvetica World"/>
                <a:ea typeface="Helvetica World"/>
                <a:cs typeface="Helvetica World"/>
                <a:sym typeface="Helvetica World"/>
              </a:rPr>
              <a:t>➖ Delete Manager:</a:t>
            </a:r>
          </a:p>
          <a:p>
            <a:pPr algn="ctr">
              <a:lnSpc>
                <a:spcPts val="3300"/>
              </a:lnSpc>
              <a:spcBef>
                <a:spcPct val="0"/>
              </a:spcBef>
            </a:pPr>
            <a:r>
              <a:rPr lang="en-US" sz="2357">
                <a:solidFill>
                  <a:srgbClr val="78553F"/>
                </a:solidFill>
                <a:latin typeface="Helvetica World"/>
                <a:ea typeface="Helvetica World"/>
                <a:cs typeface="Helvetica World"/>
                <a:sym typeface="Helvetica World"/>
              </a:rPr>
              <a:t>A manager can be removed from manager table  by typing their name and clicking the Delete Manager button.</a:t>
            </a:r>
          </a:p>
          <a:p>
            <a:pPr algn="ctr">
              <a:lnSpc>
                <a:spcPts val="2460"/>
              </a:lnSpc>
              <a:spcBef>
                <a:spcPct val="0"/>
              </a:spcBef>
            </a:pPr>
          </a:p>
          <a:p>
            <a:pPr algn="ctr">
              <a:lnSpc>
                <a:spcPts val="246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2046582" y="941980"/>
            <a:ext cx="4597315" cy="8403039"/>
          </a:xfrm>
          <a:custGeom>
            <a:avLst/>
            <a:gdLst/>
            <a:ahLst/>
            <a:cxnLst/>
            <a:rect r="r" b="b" t="t" l="l"/>
            <a:pathLst>
              <a:path h="8403039" w="4597315">
                <a:moveTo>
                  <a:pt x="0" y="0"/>
                </a:moveTo>
                <a:lnTo>
                  <a:pt x="4597315" y="0"/>
                </a:lnTo>
                <a:lnTo>
                  <a:pt x="4597315" y="8403040"/>
                </a:lnTo>
                <a:lnTo>
                  <a:pt x="0" y="8403040"/>
                </a:lnTo>
                <a:lnTo>
                  <a:pt x="0" y="0"/>
                </a:lnTo>
                <a:close/>
              </a:path>
            </a:pathLst>
          </a:custGeom>
          <a:blipFill>
            <a:blip r:embed="rId2"/>
            <a:stretch>
              <a:fillRect l="0" t="0" r="0" b="0"/>
            </a:stretch>
          </a:blipFill>
        </p:spPr>
      </p:sp>
      <p:sp>
        <p:nvSpPr>
          <p:cNvPr name="TextBox 3" id="3"/>
          <p:cNvSpPr txBox="true"/>
          <p:nvPr/>
        </p:nvSpPr>
        <p:spPr>
          <a:xfrm rot="0">
            <a:off x="6948395" y="2523965"/>
            <a:ext cx="10310905" cy="3663832"/>
          </a:xfrm>
          <a:prstGeom prst="rect">
            <a:avLst/>
          </a:prstGeom>
        </p:spPr>
        <p:txBody>
          <a:bodyPr anchor="t" rtlCol="false" tIns="0" lIns="0" bIns="0" rIns="0">
            <a:spAutoFit/>
          </a:bodyPr>
          <a:lstStyle/>
          <a:p>
            <a:pPr algn="ctr">
              <a:lnSpc>
                <a:spcPts val="4202"/>
              </a:lnSpc>
            </a:pPr>
            <a:r>
              <a:rPr lang="en-US" sz="3001">
                <a:solidFill>
                  <a:srgbClr val="78553F"/>
                </a:solidFill>
                <a:latin typeface="Helvetica World"/>
                <a:ea typeface="Helvetica World"/>
                <a:cs typeface="Helvetica World"/>
                <a:sym typeface="Helvetica World"/>
              </a:rPr>
              <a:t>👁️ Show Managers:</a:t>
            </a:r>
          </a:p>
          <a:p>
            <a:pPr algn="ctr">
              <a:lnSpc>
                <a:spcPts val="4202"/>
              </a:lnSpc>
            </a:pPr>
            <a:r>
              <a:rPr lang="en-US" sz="3001">
                <a:solidFill>
                  <a:srgbClr val="78553F"/>
                </a:solidFill>
                <a:latin typeface="Helvetica World"/>
                <a:ea typeface="Helvetica World"/>
                <a:cs typeface="Helvetica World"/>
                <a:sym typeface="Helvetica World"/>
              </a:rPr>
              <a:t>Displays a list of all registered managers currently in the system with name, email, and phone number.</a:t>
            </a:r>
          </a:p>
          <a:p>
            <a:pPr algn="ctr">
              <a:lnSpc>
                <a:spcPts val="4202"/>
              </a:lnSpc>
            </a:pPr>
            <a:r>
              <a:rPr lang="en-US" sz="3001">
                <a:solidFill>
                  <a:srgbClr val="78553F"/>
                </a:solidFill>
                <a:latin typeface="Helvetica World"/>
                <a:ea typeface="Helvetica World"/>
                <a:cs typeface="Helvetica World"/>
                <a:sym typeface="Helvetica World"/>
              </a:rPr>
              <a:t>🔐 Access Control:</a:t>
            </a:r>
          </a:p>
          <a:p>
            <a:pPr algn="ctr">
              <a:lnSpc>
                <a:spcPts val="4202"/>
              </a:lnSpc>
            </a:pPr>
            <a:r>
              <a:rPr lang="en-US" sz="3001">
                <a:solidFill>
                  <a:srgbClr val="78553F"/>
                </a:solidFill>
                <a:latin typeface="Helvetica World"/>
                <a:ea typeface="Helvetica World"/>
                <a:cs typeface="Helvetica World"/>
                <a:sym typeface="Helvetica World"/>
              </a:rPr>
              <a:t>This page is accessible only to managers on manager table , ensuring security and restricted control.</a:t>
            </a:r>
          </a:p>
          <a:p>
            <a:pPr algn="ctr">
              <a:lnSpc>
                <a:spcPts val="4202"/>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grpSp>
        <p:nvGrpSpPr>
          <p:cNvPr name="Group 2" id="2"/>
          <p:cNvGrpSpPr/>
          <p:nvPr/>
        </p:nvGrpSpPr>
        <p:grpSpPr>
          <a:xfrm rot="0">
            <a:off x="475088" y="5669284"/>
            <a:ext cx="7591205" cy="4111660"/>
            <a:chOff x="0" y="0"/>
            <a:chExt cx="4469672" cy="2420929"/>
          </a:xfrm>
        </p:grpSpPr>
        <p:sp>
          <p:nvSpPr>
            <p:cNvPr name="Freeform 3" id="3"/>
            <p:cNvSpPr/>
            <p:nvPr/>
          </p:nvSpPr>
          <p:spPr>
            <a:xfrm flipH="false" flipV="false" rot="0">
              <a:off x="0" y="0"/>
              <a:ext cx="4469672" cy="2420929"/>
            </a:xfrm>
            <a:custGeom>
              <a:avLst/>
              <a:gdLst/>
              <a:ahLst/>
              <a:cxnLst/>
              <a:rect r="r" b="b" t="t" l="l"/>
              <a:pathLst>
                <a:path h="2420929" w="4469672">
                  <a:moveTo>
                    <a:pt x="0" y="0"/>
                  </a:moveTo>
                  <a:lnTo>
                    <a:pt x="4469672" y="0"/>
                  </a:lnTo>
                  <a:lnTo>
                    <a:pt x="4469672" y="2420929"/>
                  </a:lnTo>
                  <a:lnTo>
                    <a:pt x="0" y="2420929"/>
                  </a:lnTo>
                  <a:close/>
                </a:path>
              </a:pathLst>
            </a:custGeom>
            <a:solidFill>
              <a:srgbClr val="78553F"/>
            </a:solidFill>
          </p:spPr>
        </p:sp>
        <p:sp>
          <p:nvSpPr>
            <p:cNvPr name="TextBox 4" id="4"/>
            <p:cNvSpPr txBox="true"/>
            <p:nvPr/>
          </p:nvSpPr>
          <p:spPr>
            <a:xfrm>
              <a:off x="0" y="-38100"/>
              <a:ext cx="4469672" cy="245902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723835" y="5711340"/>
            <a:ext cx="8352524" cy="4292163"/>
            <a:chOff x="0" y="0"/>
            <a:chExt cx="4917934" cy="2527209"/>
          </a:xfrm>
        </p:grpSpPr>
        <p:sp>
          <p:nvSpPr>
            <p:cNvPr name="Freeform 6" id="6"/>
            <p:cNvSpPr/>
            <p:nvPr/>
          </p:nvSpPr>
          <p:spPr>
            <a:xfrm flipH="false" flipV="false" rot="0">
              <a:off x="0" y="0"/>
              <a:ext cx="4917934" cy="2527209"/>
            </a:xfrm>
            <a:custGeom>
              <a:avLst/>
              <a:gdLst/>
              <a:ahLst/>
              <a:cxnLst/>
              <a:rect r="r" b="b" t="t" l="l"/>
              <a:pathLst>
                <a:path h="2527209" w="4917934">
                  <a:moveTo>
                    <a:pt x="0" y="0"/>
                  </a:moveTo>
                  <a:lnTo>
                    <a:pt x="4917934" y="0"/>
                  </a:lnTo>
                  <a:lnTo>
                    <a:pt x="4917934" y="2527209"/>
                  </a:lnTo>
                  <a:lnTo>
                    <a:pt x="0" y="2527209"/>
                  </a:lnTo>
                  <a:close/>
                </a:path>
              </a:pathLst>
            </a:custGeom>
            <a:solidFill>
              <a:srgbClr val="78553F"/>
            </a:solidFill>
          </p:spPr>
        </p:sp>
        <p:sp>
          <p:nvSpPr>
            <p:cNvPr name="TextBox 7" id="7"/>
            <p:cNvSpPr txBox="true"/>
            <p:nvPr/>
          </p:nvSpPr>
          <p:spPr>
            <a:xfrm>
              <a:off x="0" y="-38100"/>
              <a:ext cx="4917934" cy="256530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1477655"/>
            <a:ext cx="6078698" cy="3665845"/>
          </a:xfrm>
          <a:custGeom>
            <a:avLst/>
            <a:gdLst/>
            <a:ahLst/>
            <a:cxnLst/>
            <a:rect r="r" b="b" t="t" l="l"/>
            <a:pathLst>
              <a:path h="3665845" w="6078698">
                <a:moveTo>
                  <a:pt x="0" y="0"/>
                </a:moveTo>
                <a:lnTo>
                  <a:pt x="6078698" y="0"/>
                </a:lnTo>
                <a:lnTo>
                  <a:pt x="6078698" y="3665845"/>
                </a:lnTo>
                <a:lnTo>
                  <a:pt x="0" y="3665845"/>
                </a:lnTo>
                <a:lnTo>
                  <a:pt x="0" y="0"/>
                </a:lnTo>
                <a:close/>
              </a:path>
            </a:pathLst>
          </a:custGeom>
          <a:blipFill>
            <a:blip r:embed="rId2"/>
            <a:stretch>
              <a:fillRect l="0" t="-12139" r="0" b="-12139"/>
            </a:stretch>
          </a:blipFill>
        </p:spPr>
      </p:sp>
      <p:sp>
        <p:nvSpPr>
          <p:cNvPr name="Freeform 9" id="9"/>
          <p:cNvSpPr/>
          <p:nvPr/>
        </p:nvSpPr>
        <p:spPr>
          <a:xfrm flipH="false" flipV="false" rot="0">
            <a:off x="994937" y="6045655"/>
            <a:ext cx="6551507" cy="3124274"/>
          </a:xfrm>
          <a:custGeom>
            <a:avLst/>
            <a:gdLst/>
            <a:ahLst/>
            <a:cxnLst/>
            <a:rect r="r" b="b" t="t" l="l"/>
            <a:pathLst>
              <a:path h="3124274" w="6551507">
                <a:moveTo>
                  <a:pt x="0" y="0"/>
                </a:moveTo>
                <a:lnTo>
                  <a:pt x="6551507" y="0"/>
                </a:lnTo>
                <a:lnTo>
                  <a:pt x="6551507" y="3124274"/>
                </a:lnTo>
                <a:lnTo>
                  <a:pt x="0" y="3124274"/>
                </a:lnTo>
                <a:lnTo>
                  <a:pt x="0" y="0"/>
                </a:lnTo>
                <a:close/>
              </a:path>
            </a:pathLst>
          </a:custGeom>
          <a:blipFill>
            <a:blip r:embed="rId3"/>
            <a:stretch>
              <a:fillRect l="0" t="0" r="0" b="0"/>
            </a:stretch>
          </a:blipFill>
        </p:spPr>
      </p:sp>
      <p:sp>
        <p:nvSpPr>
          <p:cNvPr name="TextBox 10" id="10"/>
          <p:cNvSpPr txBox="true"/>
          <p:nvPr/>
        </p:nvSpPr>
        <p:spPr>
          <a:xfrm rot="0">
            <a:off x="9009613" y="1977109"/>
            <a:ext cx="7922496" cy="3412078"/>
          </a:xfrm>
          <a:prstGeom prst="rect">
            <a:avLst/>
          </a:prstGeom>
        </p:spPr>
        <p:txBody>
          <a:bodyPr anchor="t" rtlCol="false" tIns="0" lIns="0" bIns="0" rIns="0">
            <a:spAutoFit/>
          </a:bodyPr>
          <a:lstStyle/>
          <a:p>
            <a:pPr algn="ctr">
              <a:lnSpc>
                <a:spcPts val="3032"/>
              </a:lnSpc>
            </a:pPr>
            <a:r>
              <a:rPr lang="en-US" sz="2166">
                <a:solidFill>
                  <a:srgbClr val="78553F"/>
                </a:solidFill>
                <a:latin typeface="Helvetica World"/>
                <a:ea typeface="Helvetica World"/>
                <a:cs typeface="Helvetica World"/>
                <a:sym typeface="Helvetica World"/>
              </a:rPr>
              <a:t>🪟</a:t>
            </a:r>
            <a:r>
              <a:rPr lang="en-US" sz="2166">
                <a:solidFill>
                  <a:srgbClr val="78553F"/>
                </a:solidFill>
                <a:latin typeface="Helvetica World"/>
                <a:ea typeface="Helvetica World"/>
                <a:cs typeface="Helvetica World"/>
                <a:sym typeface="Helvetica World"/>
              </a:rPr>
              <a:t>On the sales management page, users can generate a daily sales report by clicking the “Sales Report” button.</a:t>
            </a:r>
          </a:p>
          <a:p>
            <a:pPr algn="ctr">
              <a:lnSpc>
                <a:spcPts val="3032"/>
              </a:lnSpc>
            </a:pPr>
            <a:r>
              <a:rPr lang="en-US" sz="2166">
                <a:solidFill>
                  <a:srgbClr val="78553F"/>
                </a:solidFill>
                <a:latin typeface="Helvetica World"/>
                <a:ea typeface="Helvetica World"/>
                <a:cs typeface="Helvetica World"/>
                <a:sym typeface="Helvetica World"/>
              </a:rPr>
              <a:t>This feature does not require admin privileges — any logged-in user can access it.</a:t>
            </a:r>
          </a:p>
          <a:p>
            <a:pPr algn="ctr">
              <a:lnSpc>
                <a:spcPts val="3032"/>
              </a:lnSpc>
            </a:pPr>
            <a:r>
              <a:rPr lang="en-US" sz="2166">
                <a:solidFill>
                  <a:srgbClr val="78553F"/>
                </a:solidFill>
                <a:latin typeface="Helvetica World"/>
                <a:ea typeface="Helvetica World"/>
                <a:cs typeface="Helvetica World"/>
                <a:sym typeface="Helvetica World"/>
              </a:rPr>
              <a:t>The report allows users to view how many units of each product were sold on a selected date.</a:t>
            </a:r>
          </a:p>
          <a:p>
            <a:pPr algn="ctr">
              <a:lnSpc>
                <a:spcPts val="3032"/>
              </a:lnSpc>
            </a:pPr>
            <a:r>
              <a:rPr lang="en-US" sz="2166">
                <a:solidFill>
                  <a:srgbClr val="78553F"/>
                </a:solidFill>
                <a:latin typeface="Helvetica World"/>
                <a:ea typeface="Helvetica World"/>
                <a:cs typeface="Helvetica World"/>
                <a:sym typeface="Helvetica World"/>
              </a:rPr>
              <a:t>This helps in tracking sales trends and daily product performance in the café environment.</a:t>
            </a:r>
          </a:p>
          <a:p>
            <a:pPr algn="ctr">
              <a:lnSpc>
                <a:spcPts val="3032"/>
              </a:lnSpc>
              <a:spcBef>
                <a:spcPct val="0"/>
              </a:spcBef>
            </a:pPr>
          </a:p>
        </p:txBody>
      </p:sp>
      <p:sp>
        <p:nvSpPr>
          <p:cNvPr name="TextBox 11" id="11"/>
          <p:cNvSpPr txBox="true"/>
          <p:nvPr/>
        </p:nvSpPr>
        <p:spPr>
          <a:xfrm rot="0">
            <a:off x="1905291" y="703897"/>
            <a:ext cx="13915098" cy="573406"/>
          </a:xfrm>
          <a:prstGeom prst="rect">
            <a:avLst/>
          </a:prstGeom>
        </p:spPr>
        <p:txBody>
          <a:bodyPr anchor="t" rtlCol="false" tIns="0" lIns="0" bIns="0" rIns="0">
            <a:spAutoFit/>
          </a:bodyPr>
          <a:lstStyle/>
          <a:p>
            <a:pPr algn="ctr">
              <a:lnSpc>
                <a:spcPts val="4619"/>
              </a:lnSpc>
              <a:spcBef>
                <a:spcPct val="0"/>
              </a:spcBef>
            </a:pPr>
            <a:r>
              <a:rPr lang="en-US" sz="3299">
                <a:solidFill>
                  <a:srgbClr val="512615"/>
                </a:solidFill>
                <a:latin typeface="Norwester"/>
                <a:ea typeface="Norwester"/>
                <a:cs typeface="Norwester"/>
                <a:sym typeface="Norwester"/>
              </a:rPr>
              <a:t>Sales Management</a:t>
            </a:r>
          </a:p>
        </p:txBody>
      </p:sp>
      <p:sp>
        <p:nvSpPr>
          <p:cNvPr name="TextBox 12" id="12"/>
          <p:cNvSpPr txBox="true"/>
          <p:nvPr/>
        </p:nvSpPr>
        <p:spPr>
          <a:xfrm rot="0">
            <a:off x="8862840" y="5663715"/>
            <a:ext cx="8069269" cy="3506214"/>
          </a:xfrm>
          <a:prstGeom prst="rect">
            <a:avLst/>
          </a:prstGeom>
        </p:spPr>
        <p:txBody>
          <a:bodyPr anchor="t" rtlCol="false" tIns="0" lIns="0" bIns="0" rIns="0">
            <a:spAutoFit/>
          </a:bodyPr>
          <a:lstStyle/>
          <a:p>
            <a:pPr algn="ctr">
              <a:lnSpc>
                <a:spcPts val="3094"/>
              </a:lnSpc>
            </a:pPr>
          </a:p>
          <a:p>
            <a:pPr algn="ctr">
              <a:lnSpc>
                <a:spcPts val="3094"/>
              </a:lnSpc>
            </a:pPr>
            <a:r>
              <a:rPr lang="en-US" sz="2210">
                <a:solidFill>
                  <a:srgbClr val="FFFCEE"/>
                </a:solidFill>
                <a:latin typeface="Helvetica World"/>
                <a:ea typeface="Helvetica World"/>
                <a:cs typeface="Helvetica World"/>
                <a:sym typeface="Helvetica World"/>
              </a:rPr>
              <a:t>📅 When the sales report button is clicked, the system prompts the user to enter a specific date in YYYY-MM-DD format.</a:t>
            </a:r>
          </a:p>
          <a:p>
            <a:pPr algn="ctr">
              <a:lnSpc>
                <a:spcPts val="3094"/>
              </a:lnSpc>
            </a:pPr>
            <a:r>
              <a:rPr lang="en-US" sz="2210">
                <a:solidFill>
                  <a:srgbClr val="FFFCEE"/>
                </a:solidFill>
                <a:latin typeface="Helvetica World"/>
                <a:ea typeface="Helvetica World"/>
                <a:cs typeface="Helvetica World"/>
                <a:sym typeface="Helvetica World"/>
              </a:rPr>
              <a:t>After submitting the date, the system queries the database and retrieves the number of products sold on that day.</a:t>
            </a:r>
          </a:p>
          <a:p>
            <a:pPr algn="ctr">
              <a:lnSpc>
                <a:spcPts val="3094"/>
              </a:lnSpc>
            </a:pPr>
            <a:r>
              <a:rPr lang="en-US" sz="2210">
                <a:solidFill>
                  <a:srgbClr val="FFFCEE"/>
                </a:solidFill>
                <a:latin typeface="Helvetica World"/>
                <a:ea typeface="Helvetica World"/>
                <a:cs typeface="Helvetica World"/>
                <a:sym typeface="Helvetica World"/>
              </a:rPr>
              <a:t>This simple interaction enhances the user experience and enables targeted, date-specific reporting.</a:t>
            </a:r>
          </a:p>
          <a:p>
            <a:pPr algn="ctr">
              <a:lnSpc>
                <a:spcPts val="3094"/>
              </a:lnSpc>
            </a:pPr>
          </a:p>
          <a:p>
            <a:pPr algn="ctr">
              <a:lnSpc>
                <a:spcPts val="3094"/>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CEE"/>
        </a:solidFill>
      </p:bgPr>
    </p:bg>
    <p:spTree>
      <p:nvGrpSpPr>
        <p:cNvPr id="1" name=""/>
        <p:cNvGrpSpPr/>
        <p:nvPr/>
      </p:nvGrpSpPr>
      <p:grpSpPr>
        <a:xfrm>
          <a:off x="0" y="0"/>
          <a:ext cx="0" cy="0"/>
          <a:chOff x="0" y="0"/>
          <a:chExt cx="0" cy="0"/>
        </a:xfrm>
      </p:grpSpPr>
      <p:sp>
        <p:nvSpPr>
          <p:cNvPr name="Freeform 2" id="2"/>
          <p:cNvSpPr/>
          <p:nvPr/>
        </p:nvSpPr>
        <p:spPr>
          <a:xfrm flipH="false" flipV="false" rot="0">
            <a:off x="1197167" y="2304556"/>
            <a:ext cx="6023643" cy="5192158"/>
          </a:xfrm>
          <a:custGeom>
            <a:avLst/>
            <a:gdLst/>
            <a:ahLst/>
            <a:cxnLst/>
            <a:rect r="r" b="b" t="t" l="l"/>
            <a:pathLst>
              <a:path h="5192158" w="6023643">
                <a:moveTo>
                  <a:pt x="0" y="0"/>
                </a:moveTo>
                <a:lnTo>
                  <a:pt x="6023643" y="0"/>
                </a:lnTo>
                <a:lnTo>
                  <a:pt x="6023643" y="5192158"/>
                </a:lnTo>
                <a:lnTo>
                  <a:pt x="0" y="5192158"/>
                </a:lnTo>
                <a:lnTo>
                  <a:pt x="0" y="0"/>
                </a:lnTo>
                <a:close/>
              </a:path>
            </a:pathLst>
          </a:custGeom>
          <a:blipFill>
            <a:blip r:embed="rId2"/>
            <a:stretch>
              <a:fillRect l="0" t="0" r="0" b="0"/>
            </a:stretch>
          </a:blipFill>
        </p:spPr>
      </p:sp>
      <p:sp>
        <p:nvSpPr>
          <p:cNvPr name="TextBox 3" id="3"/>
          <p:cNvSpPr txBox="true"/>
          <p:nvPr/>
        </p:nvSpPr>
        <p:spPr>
          <a:xfrm rot="0">
            <a:off x="8510924" y="2528549"/>
            <a:ext cx="8895487" cy="4687022"/>
          </a:xfrm>
          <a:prstGeom prst="rect">
            <a:avLst/>
          </a:prstGeom>
        </p:spPr>
        <p:txBody>
          <a:bodyPr anchor="t" rtlCol="false" tIns="0" lIns="0" bIns="0" rIns="0">
            <a:spAutoFit/>
          </a:bodyPr>
          <a:lstStyle/>
          <a:p>
            <a:pPr algn="ctr">
              <a:lnSpc>
                <a:spcPts val="4121"/>
              </a:lnSpc>
            </a:pPr>
            <a:r>
              <a:rPr lang="en-US" sz="2943">
                <a:solidFill>
                  <a:srgbClr val="78553F"/>
                </a:solidFill>
                <a:latin typeface="Helvetica World"/>
                <a:ea typeface="Helvetica World"/>
                <a:cs typeface="Helvetica World"/>
                <a:sym typeface="Helvetica World"/>
              </a:rPr>
              <a:t>This dialog appears after the user enters a specific date for generating a sales report. The system queries the database and displays a summary of all products sold on that day along with their quantities. It provides a clear and user-friendly overview of daily sales, helping staff monitor product demand. The feature enhances decision-making by showing which items are most frequently ordered on a given day</a:t>
            </a:r>
            <a:r>
              <a:rPr lang="en-US" sz="2943">
                <a:solidFill>
                  <a:srgbClr val="000000"/>
                </a:solidFill>
                <a:latin typeface="Helvetica World"/>
                <a:ea typeface="Helvetica World"/>
                <a:cs typeface="Helvetica World"/>
                <a:sym typeface="Helvetica World"/>
              </a:rPr>
              <a:t>.</a:t>
            </a:r>
          </a:p>
          <a:p>
            <a:pPr algn="ctr">
              <a:lnSpc>
                <a:spcPts val="4121"/>
              </a:lnSpc>
              <a:spcBef>
                <a:spcPct val="0"/>
              </a:spcBef>
            </a:pPr>
          </a:p>
        </p:txBody>
      </p:sp>
      <p:sp>
        <p:nvSpPr>
          <p:cNvPr name="TextBox 4" id="4"/>
          <p:cNvSpPr txBox="true"/>
          <p:nvPr/>
        </p:nvSpPr>
        <p:spPr>
          <a:xfrm rot="0">
            <a:off x="1905291" y="703897"/>
            <a:ext cx="13915098" cy="573406"/>
          </a:xfrm>
          <a:prstGeom prst="rect">
            <a:avLst/>
          </a:prstGeom>
        </p:spPr>
        <p:txBody>
          <a:bodyPr anchor="t" rtlCol="false" tIns="0" lIns="0" bIns="0" rIns="0">
            <a:spAutoFit/>
          </a:bodyPr>
          <a:lstStyle/>
          <a:p>
            <a:pPr algn="ctr">
              <a:lnSpc>
                <a:spcPts val="4619"/>
              </a:lnSpc>
              <a:spcBef>
                <a:spcPct val="0"/>
              </a:spcBef>
            </a:pPr>
            <a:r>
              <a:rPr lang="en-US" sz="3299">
                <a:solidFill>
                  <a:srgbClr val="512615"/>
                </a:solidFill>
                <a:latin typeface="Norwester"/>
                <a:ea typeface="Norwester"/>
                <a:cs typeface="Norwester"/>
                <a:sym typeface="Norwester"/>
              </a:rPr>
              <a:t>Sales Management</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FFCEE"/>
        </a:solidFill>
      </p:bgPr>
    </p:bg>
    <p:spTree>
      <p:nvGrpSpPr>
        <p:cNvPr id="1" name=""/>
        <p:cNvGrpSpPr/>
        <p:nvPr/>
      </p:nvGrpSpPr>
      <p:grpSpPr>
        <a:xfrm>
          <a:off x="0" y="0"/>
          <a:ext cx="0" cy="0"/>
          <a:chOff x="0" y="0"/>
          <a:chExt cx="0" cy="0"/>
        </a:xfrm>
      </p:grpSpPr>
      <p:grpSp>
        <p:nvGrpSpPr>
          <p:cNvPr name="Group 2" id="2"/>
          <p:cNvGrpSpPr/>
          <p:nvPr/>
        </p:nvGrpSpPr>
        <p:grpSpPr>
          <a:xfrm rot="0">
            <a:off x="0" y="2926921"/>
            <a:ext cx="13555565" cy="4327849"/>
            <a:chOff x="0" y="0"/>
            <a:chExt cx="7981464" cy="2548221"/>
          </a:xfrm>
        </p:grpSpPr>
        <p:sp>
          <p:nvSpPr>
            <p:cNvPr name="Freeform 3" id="3"/>
            <p:cNvSpPr/>
            <p:nvPr/>
          </p:nvSpPr>
          <p:spPr>
            <a:xfrm flipH="false" flipV="false" rot="0">
              <a:off x="0" y="0"/>
              <a:ext cx="7981464" cy="2548220"/>
            </a:xfrm>
            <a:custGeom>
              <a:avLst/>
              <a:gdLst/>
              <a:ahLst/>
              <a:cxnLst/>
              <a:rect r="r" b="b" t="t" l="l"/>
              <a:pathLst>
                <a:path h="2548220" w="7981464">
                  <a:moveTo>
                    <a:pt x="0" y="0"/>
                  </a:moveTo>
                  <a:lnTo>
                    <a:pt x="7981464" y="0"/>
                  </a:lnTo>
                  <a:lnTo>
                    <a:pt x="7981464" y="2548220"/>
                  </a:lnTo>
                  <a:lnTo>
                    <a:pt x="0" y="2548220"/>
                  </a:lnTo>
                  <a:close/>
                </a:path>
              </a:pathLst>
            </a:custGeom>
            <a:solidFill>
              <a:srgbClr val="78553F"/>
            </a:solidFill>
          </p:spPr>
        </p:sp>
        <p:sp>
          <p:nvSpPr>
            <p:cNvPr name="TextBox 4" id="4"/>
            <p:cNvSpPr txBox="true"/>
            <p:nvPr/>
          </p:nvSpPr>
          <p:spPr>
            <a:xfrm>
              <a:off x="0" y="-38100"/>
              <a:ext cx="7981464" cy="2586321"/>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1028700"/>
            <a:ext cx="850763" cy="798351"/>
            <a:chOff x="0" y="0"/>
            <a:chExt cx="500926" cy="470066"/>
          </a:xfrm>
        </p:grpSpPr>
        <p:sp>
          <p:nvSpPr>
            <p:cNvPr name="Freeform 6" id="6"/>
            <p:cNvSpPr/>
            <p:nvPr/>
          </p:nvSpPr>
          <p:spPr>
            <a:xfrm flipH="false" flipV="false" rot="0">
              <a:off x="0" y="0"/>
              <a:ext cx="500926" cy="470066"/>
            </a:xfrm>
            <a:custGeom>
              <a:avLst/>
              <a:gdLst/>
              <a:ahLst/>
              <a:cxnLst/>
              <a:rect r="r" b="b" t="t" l="l"/>
              <a:pathLst>
                <a:path h="470066" w="500926">
                  <a:moveTo>
                    <a:pt x="0" y="0"/>
                  </a:moveTo>
                  <a:lnTo>
                    <a:pt x="500926" y="0"/>
                  </a:lnTo>
                  <a:lnTo>
                    <a:pt x="500926" y="470066"/>
                  </a:lnTo>
                  <a:lnTo>
                    <a:pt x="0" y="470066"/>
                  </a:lnTo>
                  <a:close/>
                </a:path>
              </a:pathLst>
            </a:custGeom>
            <a:solidFill>
              <a:srgbClr val="78553F"/>
            </a:solidFill>
          </p:spPr>
        </p:sp>
        <p:sp>
          <p:nvSpPr>
            <p:cNvPr name="TextBox 7" id="7"/>
            <p:cNvSpPr txBox="true"/>
            <p:nvPr/>
          </p:nvSpPr>
          <p:spPr>
            <a:xfrm>
              <a:off x="0" y="-38100"/>
              <a:ext cx="500926" cy="508166"/>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308661" y="1028700"/>
            <a:ext cx="850763" cy="798351"/>
            <a:chOff x="0" y="0"/>
            <a:chExt cx="500926" cy="470066"/>
          </a:xfrm>
        </p:grpSpPr>
        <p:sp>
          <p:nvSpPr>
            <p:cNvPr name="Freeform 9" id="9"/>
            <p:cNvSpPr/>
            <p:nvPr/>
          </p:nvSpPr>
          <p:spPr>
            <a:xfrm flipH="false" flipV="false" rot="0">
              <a:off x="0" y="0"/>
              <a:ext cx="500926" cy="470066"/>
            </a:xfrm>
            <a:custGeom>
              <a:avLst/>
              <a:gdLst/>
              <a:ahLst/>
              <a:cxnLst/>
              <a:rect r="r" b="b" t="t" l="l"/>
              <a:pathLst>
                <a:path h="470066" w="500926">
                  <a:moveTo>
                    <a:pt x="0" y="0"/>
                  </a:moveTo>
                  <a:lnTo>
                    <a:pt x="500926" y="0"/>
                  </a:lnTo>
                  <a:lnTo>
                    <a:pt x="500926" y="470066"/>
                  </a:lnTo>
                  <a:lnTo>
                    <a:pt x="0" y="470066"/>
                  </a:lnTo>
                  <a:close/>
                </a:path>
              </a:pathLst>
            </a:custGeom>
            <a:solidFill>
              <a:srgbClr val="EAE5CF"/>
            </a:solidFill>
          </p:spPr>
        </p:sp>
        <p:sp>
          <p:nvSpPr>
            <p:cNvPr name="TextBox 10" id="10"/>
            <p:cNvSpPr txBox="true"/>
            <p:nvPr/>
          </p:nvSpPr>
          <p:spPr>
            <a:xfrm>
              <a:off x="0" y="-38100"/>
              <a:ext cx="500926" cy="508166"/>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095112" y="4245599"/>
            <a:ext cx="12201246" cy="2413699"/>
          </a:xfrm>
          <a:prstGeom prst="rect">
            <a:avLst/>
          </a:prstGeom>
        </p:spPr>
        <p:txBody>
          <a:bodyPr anchor="t" rtlCol="false" tIns="0" lIns="0" bIns="0" rIns="0">
            <a:spAutoFit/>
          </a:bodyPr>
          <a:lstStyle/>
          <a:p>
            <a:pPr algn="l">
              <a:lnSpc>
                <a:spcPts val="17129"/>
              </a:lnSpc>
            </a:pPr>
            <a:r>
              <a:rPr lang="en-US" sz="20392" spc="-815">
                <a:solidFill>
                  <a:srgbClr val="FFFCEE"/>
                </a:solidFill>
                <a:latin typeface="Norwester"/>
                <a:ea typeface="Norwester"/>
                <a:cs typeface="Norwester"/>
                <a:sym typeface="Norwester"/>
              </a:rPr>
              <a:t>THANK YOU</a:t>
            </a:r>
          </a:p>
        </p:txBody>
      </p:sp>
      <p:sp>
        <p:nvSpPr>
          <p:cNvPr name="TextBox 12" id="12"/>
          <p:cNvSpPr txBox="true"/>
          <p:nvPr/>
        </p:nvSpPr>
        <p:spPr>
          <a:xfrm rot="0">
            <a:off x="2798972" y="8217220"/>
            <a:ext cx="7957622" cy="1385774"/>
          </a:xfrm>
          <a:prstGeom prst="rect">
            <a:avLst/>
          </a:prstGeom>
        </p:spPr>
        <p:txBody>
          <a:bodyPr anchor="t" rtlCol="false" tIns="0" lIns="0" bIns="0" rIns="0">
            <a:spAutoFit/>
          </a:bodyPr>
          <a:lstStyle/>
          <a:p>
            <a:pPr algn="r">
              <a:lnSpc>
                <a:spcPts val="9922"/>
              </a:lnSpc>
            </a:pPr>
            <a:r>
              <a:rPr lang="en-US" sz="11405" spc="-456">
                <a:solidFill>
                  <a:srgbClr val="78553F"/>
                </a:solidFill>
                <a:latin typeface="Norwester"/>
                <a:ea typeface="Norwester"/>
                <a:cs typeface="Norwester"/>
                <a:sym typeface="Norwester"/>
              </a:rPr>
              <a:t>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DAGm_hiuuU8</dc:identifier>
  <dcterms:modified xsi:type="dcterms:W3CDTF">2011-08-01T06:04:30Z</dcterms:modified>
  <cp:revision>1</cp:revision>
  <dc:title>DATABASE</dc:title>
</cp:coreProperties>
</file>